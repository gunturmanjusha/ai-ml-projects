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19"/>
    <p:sldId id="257" r:id="rId20"/>
    <p:sldId id="258" r:id="rId18"/>
    <p:sldId id="259" r:id="rId17"/>
    <p:sldId id="260" r:id="rId16"/>
    <p:sldId id="261" r:id="rId15"/>
    <p:sldId id="272" r:id="rId35"/>
    <p:sldId id="262" r:id="rId14"/>
    <p:sldId id="263" r:id="rId13"/>
    <p:sldId id="264" r:id="rId12"/>
    <p:sldId id="265" r:id="rId11"/>
    <p:sldId id="266" r:id="rId10"/>
    <p:sldId id="267" r:id="rId9"/>
    <p:sldId id="273" r:id="rId36"/>
    <p:sldId id="268" r:id="rId8"/>
    <p:sldId id="269" r:id="rId32"/>
    <p:sldId id="270" r:id="rId33"/>
    <p:sldId id="271" r:id="rId34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5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7.xml"/><Relationship Id="rId3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Wind Turbine Failure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5486400" cy="5029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A55"/>
                </a:solidFill>
                <a:latin typeface="Aptos"/>
              </a:rPr>
              <a:t>Aeolus Renewables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6858000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94D"/>
                </a:solidFill>
                <a:latin typeface="Aptos"/>
              </a:rPr>
              <a:t>Drivetrain condition assessment using 10-minute SCADA measurements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15184"/>
            <a:ext cx="7955279" cy="21945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131,760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sensor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turbines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recorded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25112"/>
            <a:ext cx="7863840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487"/>
                </a:solidFill>
                <a:latin typeface="Aptos"/>
              </a:rPr>
              <a:t>Predictive Modeling with Machine Learning and Neural Networks  |  Low-Code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354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6363F"/>
                </a:solidFill>
              </a:defRPr>
            </a:pPr>
            <a:r>
              <a:t>Submission date: October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Contents /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056132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65276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060704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Executive summary and business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00784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69364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78508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Exploratory analysis and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14016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482596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91740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87168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Model comparison and final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27248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195828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04972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00400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Actionable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909060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18204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13632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Appendix: data, baselines, tuning and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Tuned ANN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1,245 / 1,441 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False-alert tradeoff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978408"/>
            <a:ext cx="2103120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1069848"/>
            <a:ext cx="1847087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289304"/>
            <a:ext cx="1847087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1709928"/>
            <a:ext cx="1847087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Balance of P and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359152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The operational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734056"/>
            <a:ext cx="8138160" cy="5486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A55"/>
                </a:solidFill>
                <a:latin typeface="Aptos"/>
              </a:rPr>
              <a:t>Use the ANN as analyst decision support, not an automatic turbine shutdown trigger.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0440"/>
            <a:ext cx="7955279" cy="86868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03320"/>
            <a:ext cx="7589520" cy="4389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1,271 false-positive records require remote triage; 196 fault records were missed.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Business Problem Overview and Solution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9264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804672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A55"/>
                </a:solidFill>
                <a:latin typeface="Aptos"/>
              </a:rPr>
              <a:t>Missed drivetrain faults can lead to extended downtime, emergency repairs and lost energy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4864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CONDITION-BASED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SCADA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Fault / normal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Operations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1736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Maintenance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03904"/>
            <a:ext cx="7973568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Method: timestamp-grouped chronological split, training-only preprocessing, five baseline models, two tuned candidates, validation-driven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Class Balance and Asset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8229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131,760 readings  •  15 turbines  •  3.00% recorded faults</a:t>
            </a:r>
          </a:p>
        </p:txBody>
      </p:sp>
      <p:pic>
        <p:nvPicPr>
          <p:cNvPr id="9" name="Picture 8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1042"/>
            <a:ext cx="8001000" cy="26111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The minority fault class makes accuracy alone misleading; turbine-level rates support prioritised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Sensor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06</a:t>
            </a:r>
          </a:p>
        </p:txBody>
      </p:sp>
      <p:pic>
        <p:nvPicPr>
          <p:cNvPr id="8" name="Picture 7" descr="eda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434"/>
            <a:ext cx="5596128" cy="29575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005840"/>
            <a:ext cx="2432304" cy="337413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192024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1920240" cy="9601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Vibration, gearbox temperature and oil particles are visibly elevated in fault-state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0632"/>
            <a:ext cx="1920240" cy="9875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Wind speed alone provides weaker separation, supporting multi-signal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Multivariate Sensor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128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FFFFFF"/>
                </a:solidFill>
              </a:defRPr>
            </a:pPr>
            <a:r>
              <a:t>MAIN PRESENTATION • 07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0"/>
            <a:ext cx="4160520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09160" y="786384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8489"/>
                </a:solidFill>
              </a:defRPr>
            </a:pPr>
            <a:r>
              <a:t>What the heatmap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170432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6363F"/>
                </a:solidFill>
              </a:defRPr>
            </a:pPr>
            <a:r>
              <a:t>• Drivetrain vibration has the strongest correlation with recorded fault state (0.54).</a:t>
            </a:r>
          </a:p>
          <a:p>
            <a:pPr>
              <a:defRPr sz="900" b="0">
                <a:solidFill>
                  <a:srgbClr val="26363F"/>
                </a:solidFill>
              </a:defRPr>
            </a:pPr>
            <a:r>
              <a:t>• Oil-particle count is also material (0.47); bearing-frequency vibration is 0.23.</a:t>
            </a:r>
          </a:p>
          <a:p>
            <a:pPr>
              <a:defRPr sz="900" b="0">
                <a:solidFill>
                  <a:srgbClr val="26363F"/>
                </a:solidFill>
              </a:defRPr>
            </a:pPr>
            <a:r>
              <a:t>• Oil pressure is negative (−0.17); gearbox-bearing temperature is weaker (0.10).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971800"/>
            <a:ext cx="3840480" cy="1143000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313639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6363F"/>
                </a:solidFill>
              </a:defRPr>
            </a:pPr>
            <a:r>
              <a:t>Implication: Fault-state evidence is distributed across signals. A multi-feature model is more appropriate than a single sensor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Data Preprocessing and Leakage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0 duplicate rows; missing gearbox-oil (645), generator-bearing (690), oil-pressure (636).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Training-median imputation; ANN StandardScaler fit using training rows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 cycles, power utilisation and temperature-rise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EVALUATION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Timestamp-grouped chronological 70% / 15% / 15%; test reserved until final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Performance Summary and Final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78992"/>
          <a:ext cx="7955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57400"/>
                <a:gridCol w="1783080"/>
                <a:gridCol w="2011680"/>
              </a:tblGrid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Tuned 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Validation 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ANN (selected)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92.49%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53.54%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37.67%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69.10%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69.34%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69.57%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2724912"/>
            <a:ext cx="7955279" cy="89611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834640"/>
            <a:ext cx="1828800" cy="2103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Selection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7452360" cy="3108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A55"/>
                </a:solidFill>
                <a:latin typeface="Aptos"/>
              </a:rPr>
              <a:t>Maximise validation recall; F1 and precision are secondary tie-breakers.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7955279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ANN catches more recorded fault states. XGBoost offers better precision and F1, so the false-alert tradeoff must be managed.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Actionable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01 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Review persistent model alerts and corroborating sensor signals remotely.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02 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Prioritise technician inspections when risk persists across successive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03 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Link alerts to work orders; track false alarms, missed faults, and operational workload.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04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Run prospective field validation before promising lead time or cost savings.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7955279" cy="365760"/>
          </a:xfrm>
          <a:prstGeom prst="rect">
            <a:avLst/>
          </a:prstGeom>
          <a:solidFill>
            <a:srgbClr val="EBF6F6"/>
          </a:solidFill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6363F"/>
                </a:solidFill>
              </a:defRPr>
            </a:pPr>
            <a:r>
              <a:t>Evidence base: 196 missed SCADA fault observations support recall-first selection. The 1,271 false-positive SCADA observations are not 1,271 technician visits or incidents; remote triage and alert persistence should determine dispatch. Pilot KPIs: missed observations, alert workload, work-order confirmation, downtime and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APPENDIX — Data Background and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SCADA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8046720" cy="45720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8,784 timestamp groups, recorded at 10-minute intervals across 15 turbines.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Wind, ambient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Power and rotational speeds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Bearing heat, vibration, oil particles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Asset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Hours, load cycles and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70832"/>
            <a:ext cx="7955279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Target: failure = 1 denotes a recorded fault condition, not a future failure horizon.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Building — Five Baseline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996696"/>
          <a:ext cx="5074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877824"/>
                <a:gridCol w="886968"/>
                <a:gridCol w="896112"/>
                <a:gridCol w="841248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90.70%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27.74%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47.93%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35.14%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95.35%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82.87%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14.44%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24.59%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46.96%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29.74%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36.42%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96.64%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71.01%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60.83%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65.53%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ANN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94.79%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50.28%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68.05%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57.83%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baselin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445862"/>
            <a:ext cx="3145536" cy="1899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142232"/>
            <a:ext cx="790956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 and XGBoost have the highest baseline recall and were selected for tuning.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Improvement —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pic>
        <p:nvPicPr>
          <p:cNvPr id="8" name="Picture 7" descr="tunin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070"/>
            <a:ext cx="4636008" cy="23162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941832"/>
            <a:ext cx="3291840" cy="1444752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0881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489"/>
                </a:solidFill>
              </a:defRPr>
            </a:pPr>
            <a:r>
              <a:t>XGBoost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353312"/>
            <a:ext cx="285292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26363F"/>
                </a:solidFill>
              </a:defRPr>
            </a:pPr>
            <a:r>
              <a:t>Six configurations; two timestamp-grouped expanding folds; recall objective.</a:t>
            </a:r>
            <a:br/>
            <a:r>
              <a:t>Selected: 160 trees, depth 3, learning rate 0.07, subsample 0.85, colsample 1.00, min-child weight 3.</a:t>
            </a:r>
            <a:br/>
            <a:r>
              <a:t>Best CV recall 48.45%; holdout validation recall 69.10%.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615184"/>
            <a:ext cx="3291840" cy="1444752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76148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489"/>
                </a:solidFill>
              </a:defRPr>
            </a:pPr>
            <a:r>
              <a:t>ANN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26664"/>
            <a:ext cx="285292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26363F"/>
                </a:solidFill>
              </a:defRPr>
            </a:pPr>
            <a:r>
              <a:t>Five fixed-seed configurations: baseline, prior 64/24, wider L2, higher-dropout L2, compact regularised. Training-only preprocessing, class weighting and early stopping.</a:t>
            </a:r>
            <a:br/>
            <a:r>
              <a:t>Selected prior 64/24 ANN: 92.49% recall; best new ANN: 92.40%.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26363F"/>
                </a:solidFill>
              </a:defRPr>
            </a:pPr>
            <a:r>
              <a:t>Wind Turbine Failure Detection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ANN vs. XGBoost — Tuning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128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FFFFFF"/>
                </a:solidFill>
              </a:defRPr>
            </a:pPr>
            <a:r>
              <a:t>APPENDIX •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6363F"/>
                </a:solidFill>
              </a:defRPr>
            </a:pPr>
            <a:r>
              <a:t>Candidates were selected from baseline validation recall. Test data did not influence tuning, selection or threshold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07792"/>
            <a:ext cx="8321040" cy="1207008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79552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26363F"/>
                </a:solidFill>
              </a:defRPr>
            </a:pPr>
            <a:r>
              <a:t>Selection rationale</a:t>
            </a:r>
            <a:br/>
            <a:r>
              <a:t>Validation recall is primary. The historical 64/24 ANN remains selected at 92.49%, narrowly above the best fresh configuration (92.40%). Its lower precision/F1 reflects the alert trade-off. XGBoost has higher precision and F1 but lower recall (69.10%). Test data did not choose configurations or thresholds.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24128"/>
          <a:ext cx="8503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691640"/>
                <a:gridCol w="1234440"/>
                <a:gridCol w="452628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P / R / F1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 / evidence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37.67 / 92.49 / 53.54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Recorded 64/24; BatchNorm; dropout 0.30/0.15; Adam; early stopping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45.13 / 92.40 / 60.64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Best new run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Higher-dropout L2; 5 actual fixed-seed ANN configurations evaluated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69.57 / 69.10 / 69.34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Tuned comparator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6363F"/>
                          </a:solidFill>
                        </a:defRPr>
                      </a:pPr>
                      <a:r>
                        <a:t>6 randomized configurations; 2 timestamp-grouped expanding folds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Final Model Performance — Untouched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15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189" y="923544"/>
            <a:ext cx="3580421" cy="3547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92.58%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3474720"/>
            <a:ext cx="3886200" cy="841248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648456"/>
            <a:ext cx="3602736" cy="5303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1,245 detected • 196 missed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1,271 false alerts • 17,058 true normals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Feature Interpretation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16</a:t>
            </a:r>
          </a:p>
        </p:txBody>
      </p:sp>
      <p:pic>
        <p:nvPicPr>
          <p:cNvPr id="8" name="Picture 7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" y="923544"/>
            <a:ext cx="5779008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033271"/>
            <a:ext cx="2194560" cy="32735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234440"/>
            <a:ext cx="18288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1874519" cy="1042415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Drivetrain vibration and oil particle count show the largest validation-recall impacts.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52344"/>
            <a:ext cx="1874519" cy="12801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Permutation importance measures association, not causation or a future-failure lead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Timestamp-Grouped Split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92,220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6,148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pic>
        <p:nvPicPr>
          <p:cNvPr id="20" name="Picture 19" descr="split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1481"/>
            <a:ext cx="5029200" cy="159445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97880" y="2441448"/>
            <a:ext cx="2624328" cy="160020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569464"/>
            <a:ext cx="22402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LEAKAGE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2916936"/>
            <a:ext cx="2167128" cy="10241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5394D"/>
                </a:solidFill>
                <a:latin typeface="Aptos"/>
              </a:rPr>
              <a:t>All 15 turbine records at a timestamp remain in the same partition. Failure prevalence changes over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Operational Use Case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/>
            </a:pPr>
            <a:r>
              <a:t>Wind Turbine Failure Detection  • 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Model flags current abnormal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Analyst checks persistence and supporting sensors.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Maintenance team prioritises planned inspection.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16936"/>
            <a:ext cx="7955279" cy="127101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73152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DEPLOYMENT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754380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Retrospective proof of concept: prospectively validate alert value, technician workload, model drift and downtime outcomes before automated action or savings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