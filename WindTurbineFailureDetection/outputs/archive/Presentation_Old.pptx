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32"/>
    <p:sldId id="270" r:id="rId33"/>
    <p:sldId id="271" r:id="rId34"/>
  </p:sldIdLst>
  <p:sldSz cy="5143500" cx="9144000"/>
  <p:notesSz cx="6858000" cy="9144000"/>
  <p:embeddedFontLst>
    <p:embeddedFont>
      <p:font typeface="Nunito SemiBold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Nunito ExtraBold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ir1CuVc7P9GSjuQoiIFJRDez2n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FB5A6A-6A5D-45A8-83F2-B5AB23CB960B}">
  <a:tblStyle styleId="{C1FB5A6A-6A5D-45A8-83F2-B5AB23CB960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font" Target="fonts/NunitoSemiBold-regular.fntdata"/><Relationship Id="rId22" Type="http://schemas.openxmlformats.org/officeDocument/2006/relationships/font" Target="fonts/NunitoSemiBold-bold.fntdata"/><Relationship Id="rId23" Type="http://schemas.openxmlformats.org/officeDocument/2006/relationships/font" Target="fonts/NunitoSemiBold-italic.fntdata"/><Relationship Id="rId24" Type="http://schemas.openxmlformats.org/officeDocument/2006/relationships/font" Target="fonts/NunitoSemiBold-boldItalic.fntdata"/><Relationship Id="rId25" Type="http://schemas.openxmlformats.org/officeDocument/2006/relationships/font" Target="fonts/Nunito-regular.fntdata"/><Relationship Id="rId26" Type="http://schemas.openxmlformats.org/officeDocument/2006/relationships/font" Target="fonts/Nunito-bold.fntdata"/><Relationship Id="rId27" Type="http://schemas.openxmlformats.org/officeDocument/2006/relationships/font" Target="fonts/Nunito-italic.fntdata"/><Relationship Id="rId28" Type="http://schemas.openxmlformats.org/officeDocument/2006/relationships/font" Target="fonts/Nunito-boldItalic.fntdata"/><Relationship Id="rId29" Type="http://schemas.openxmlformats.org/officeDocument/2006/relationships/font" Target="fonts/NunitoExtraBold-bold.fntdata"/><Relationship Id="rId30" Type="http://schemas.openxmlformats.org/officeDocument/2006/relationships/font" Target="fonts/NunitoExtraBold-boldItalic.fntdata"/><Relationship Id="rId31" Type="http://customschemas.google.com/relationships/presentationmetadata" Target="metadata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" name="Google Shape;16;p17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22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{C1FB5A6A-6A5D-45A8-83F2-B5AB23CB960B}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8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28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8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28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64" name="Google Shape;64;p20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0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0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67" name="Google Shape;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0" name="Google Shape;70;p29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80" name="Google Shape;80;p32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{C1FB5A6A-6A5D-45A8-83F2-B5AB23CB960B}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9" name="Google Shape;8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2" name="Google Shape;92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98" name="Google Shape;98;p3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6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6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6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6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5" name="Google Shape;55;p19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6" name="Google Shape;56;p19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9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0" name="Google Shape;60;p19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9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9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0292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Wind Turbine Failure Detection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</a:defRPr>
            </a:pPr>
            <a:r>
              <a:t>Great Learning | Low-Code ML Assignment  |  Wind Turbine Failure Detection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08B8F"/>
                </a:solidFill>
              </a:defRPr>
            </a:pPr>
            <a:r>
              <a:t>Aeolus Renewables</a:t>
            </a:r>
          </a:p>
          <a:p>
            <a:pPr>
              <a:spcAft>
                <a:spcPts val="1000"/>
              </a:spcAft>
              <a:defRPr sz="2500" b="0">
                <a:solidFill>
                  <a:srgbClr val="008B8F"/>
                </a:solidFill>
              </a:defRPr>
            </a:pPr>
            <a:r>
              <a:t>Drivetrain condition classification from 10-minute SCADA data</a:t>
            </a:r>
          </a:p>
          <a:p>
            <a:pPr>
              <a:spcAft>
                <a:spcPts val="1000"/>
              </a:spcAft>
              <a:defRPr sz="2500" b="0">
                <a:solidFill>
                  <a:srgbClr val="008B8F"/>
                </a:solidFill>
              </a:defRPr>
            </a:pPr>
            <a:r>
              <a:t>Validated timestamp-grouped chronological evaluation</a:t>
            </a:r>
          </a:p>
        </p:txBody>
      </p:sp>
      <p:pic>
        <p:nvPicPr>
          <p:cNvPr id="109" name="Picture 108" descr="eda_target_turb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188720"/>
            <a:ext cx="420624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1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292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Contents / Agenda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</a:defRPr>
            </a:pPr>
            <a:r>
              <a:t>Main Presentation  |  Wind Turbine Failure Detection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22960" y="123444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3313A"/>
                </a:solidFill>
              </a:defRPr>
            </a:pPr>
            <a:r>
              <a:t>1  Executive summary and business problem</a:t>
            </a:r>
          </a:p>
          <a:p>
            <a:pPr>
              <a:spcAft>
                <a:spcPts val="1000"/>
              </a:spcAft>
              <a:defRPr sz="2200" b="0">
                <a:solidFill>
                  <a:srgbClr val="23313A"/>
                </a:solidFill>
              </a:defRPr>
            </a:pPr>
            <a:r>
              <a:t>2  Exploratory analysis and preprocessing</a:t>
            </a:r>
          </a:p>
          <a:p>
            <a:pPr>
              <a:spcAft>
                <a:spcPts val="1000"/>
              </a:spcAft>
              <a:defRPr sz="2200" b="0">
                <a:solidFill>
                  <a:srgbClr val="23313A"/>
                </a:solidFill>
              </a:defRPr>
            </a:pPr>
            <a:r>
              <a:t>3  Baseline models, tuning and final selection</a:t>
            </a:r>
          </a:p>
          <a:p>
            <a:pPr>
              <a:spcAft>
                <a:spcPts val="1000"/>
              </a:spcAft>
              <a:defRPr sz="2200" b="0">
                <a:solidFill>
                  <a:srgbClr val="23313A"/>
                </a:solidFill>
              </a:defRPr>
            </a:pPr>
            <a:r>
              <a:t>4  Final performance, feature interpretation and recommendations</a:t>
            </a:r>
          </a:p>
          <a:p>
            <a:pPr>
              <a:spcAft>
                <a:spcPts val="1000"/>
              </a:spcAft>
              <a:defRPr sz="2200" b="0">
                <a:solidFill>
                  <a:srgbClr val="23313A"/>
                </a:solidFill>
              </a:defRPr>
            </a:pPr>
            <a:r>
              <a:t>Appendix: data background, baseline table, tuning details and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0292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</a:defRPr>
            </a:pPr>
            <a:r>
              <a:t>Main Presentation  |  Wind Turbine Failure Detection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40080" y="1143000"/>
            <a:ext cx="55778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Tuned ANN selected: 92.49% validation recall</a:t>
            </a:r>
          </a:p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Test recall: 86.40% — 1,245 of 1,441 recorded fault states identified</a:t>
            </a:r>
          </a:p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196 missed states remain the principal risk; 1,271 false positives require triage</a:t>
            </a:r>
          </a:p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Deploy as current-condition decision support, not as a proven future-failure predictor</a:t>
            </a:r>
          </a:p>
        </p:txBody>
      </p:sp>
      <p:pic>
        <p:nvPicPr>
          <p:cNvPr id="122" name="Picture 121" descr="final_tes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34440"/>
            <a:ext cx="457200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2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0292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Business Problem Overview and Solution Approach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</a:defRPr>
            </a:pPr>
            <a:r>
              <a:t>Main Presentation  |  Wind Turbine Failure Detection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40080" y="1097280"/>
            <a:ext cx="5212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8B8F"/>
                </a:solidFill>
              </a:defRPr>
            </a:pPr>
            <a:r>
              <a:t>Business need</a:t>
            </a:r>
          </a:p>
          <a:p>
            <a:pPr>
              <a:spcAft>
                <a:spcPts val="1000"/>
              </a:spcAft>
              <a:defRPr sz="1900" b="0">
                <a:solidFill>
                  <a:srgbClr val="008B8F"/>
                </a:solidFill>
              </a:defRPr>
            </a:pPr>
            <a:r>
              <a:t>Reduce manual SCADA review by prioritising turbines with recorded drivetrain fault signatures.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40080" y="2743200"/>
            <a:ext cx="104241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313A"/>
                </a:solidFill>
              </a:defRPr>
            </a:pPr>
            <a:r>
              <a:t>Method</a:t>
            </a:r>
          </a:p>
          <a:p>
            <a:pPr>
              <a:spcAft>
                <a:spcPts val="1000"/>
              </a:spcAft>
              <a:defRPr sz="1900" b="0">
                <a:solidFill>
                  <a:srgbClr val="23313A"/>
                </a:solidFill>
              </a:defRPr>
            </a:pPr>
            <a:r>
              <a:t>Timestamp-grouped 70/15/15 chronology; training-only imputation/scaling; five classifiers; tune ANN and XGBoost; select on validation recall; evaluate once on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2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0292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EDA Results — Fault Pattern and Sensor Evidence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</a:defRPr>
            </a:pPr>
            <a:r>
              <a:t>Main Presentation  |  Wind Turbine Failure Detection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94360" y="9144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313A"/>
                </a:solidFill>
              </a:defRPr>
            </a:pPr>
            <a:r>
              <a:t>131,760 records from 15 turbines; overall recorded-failure prevalence 3.00%.</a:t>
            </a:r>
          </a:p>
          <a:p>
            <a:pPr>
              <a:spcAft>
                <a:spcPts val="1000"/>
              </a:spcAft>
              <a:defRPr sz="1500" b="0">
                <a:solidFill>
                  <a:srgbClr val="23313A"/>
                </a:solidFill>
              </a:defRPr>
            </a:pPr>
            <a:r>
              <a:t>Fault-state distributions shift in gearbox temperature, drivetrain vibration and oil-particle readings.</a:t>
            </a:r>
          </a:p>
          <a:p>
            <a:pPr>
              <a:spcAft>
                <a:spcPts val="1000"/>
              </a:spcAft>
              <a:defRPr sz="1500" b="0">
                <a:solidFill>
                  <a:srgbClr val="23313A"/>
                </a:solidFill>
              </a:defRPr>
            </a:pPr>
            <a:r>
              <a:t>Use signal combinations rather than a single fixed threshold.</a:t>
            </a:r>
          </a:p>
        </p:txBody>
      </p:sp>
      <p:pic>
        <p:nvPicPr>
          <p:cNvPr id="134" name="Picture 133" descr="eda_failure_sign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11680"/>
            <a:ext cx="5486400" cy="3566160"/>
          </a:xfrm>
          <a:prstGeom prst="rect">
            <a:avLst/>
          </a:prstGeom>
        </p:spPr>
      </p:pic>
      <p:pic>
        <p:nvPicPr>
          <p:cNvPr id="135" name="Picture 134" descr="eda_correl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011680"/>
            <a:ext cx="52120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3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0292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Data Preprocessing and Leakage Prevention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</a:defRPr>
            </a:pPr>
            <a:r>
              <a:t>Main Presentation  |  Wind Turbine Failure Detection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85800" y="100584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Data quality</a:t>
            </a:r>
          </a:p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0 duplicates; 645 gearbox-oil, 690 generator-bearing and 636 oil-pressure missing readings.</a:t>
            </a:r>
          </a:p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Treatment</a:t>
            </a:r>
          </a:p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Median imputation fitted on training rows only; StandardScaler fitted on training rows only for ANN.</a:t>
            </a:r>
          </a:p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Features</a:t>
            </a:r>
          </a:p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Calendar cycles, power utilisation, gearbox and generator temperature rise.</a:t>
            </a:r>
          </a:p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Split</a:t>
            </a:r>
          </a:p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Timestamp-grouped chronological partitions prevent the same SCADA timestamp appearing in two splits.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0292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Model Performance Summary and Final Model Selection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</a:defRPr>
            </a:pPr>
            <a:r>
              <a:t>Main Presentation  |  Wind Turbine Failure Detection</a:t>
            </a:r>
          </a:p>
        </p:txBody>
      </p:sp>
      <p:graphicFrame>
        <p:nvGraphicFramePr>
          <p:cNvPr id="146" name="Table 145"/>
          <p:cNvGraphicFramePr>
            <a:graphicFrameLocks noGrp="1"/>
          </p:cNvGraphicFramePr>
          <p:nvPr/>
        </p:nvGraphicFramePr>
        <p:xfrm>
          <a:off x="685800" y="128016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Tuned model</a:t>
                      </a:r>
                    </a:p>
                  </a:txBody>
                  <a:tcPr>
                    <a:solidFill>
                      <a:srgbClr val="0F37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Validation recall</a:t>
                      </a:r>
                    </a:p>
                  </a:txBody>
                  <a:tcPr>
                    <a:solidFill>
                      <a:srgbClr val="0F37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0F37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37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0F37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ANN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92.49%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53.54%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37.67%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Selected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69.10%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69.34%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69.57%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Alternative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7" name="TextBox 146"/>
          <p:cNvSpPr txBox="1"/>
          <p:nvPr/>
        </p:nvSpPr>
        <p:spPr>
          <a:xfrm>
            <a:off x="731520" y="3063240"/>
            <a:ext cx="102412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Selection rule: highest validation recall; F1 then precision only if recall ties.</a:t>
            </a:r>
          </a:p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ANN wins on recall; XGBoost is more precise and has better F1, but misses more recorded faults.</a:t>
            </a:r>
          </a:p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Test data did not influence tuning, selection or threshold choice.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4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0292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Actionable Business Recommendations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</a:defRPr>
            </a:pPr>
            <a:r>
              <a:t>Main Presentation  |  Wind Turbine Failure Detection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31520" y="1051560"/>
            <a:ext cx="10424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1. Rank persistent high-risk alerts for operations-centre review.</a:t>
            </a:r>
          </a:p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2. Check vibration, thermal, oil and maintenance context before dispatch.</a:t>
            </a:r>
          </a:p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3. Send recurring or multi-signal alerts to planned inspection queues.</a:t>
            </a:r>
          </a:p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4. Monitor missed states, false-alert workload, sensor drift and downtime outcomes.</a:t>
            </a:r>
          </a:p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5. Validate prospectively before claiming lead time or financial savings.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0292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APPENDIX — Data Background and Contents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</a:defRPr>
            </a:pPr>
            <a:r>
              <a:t>Appendix  |  Wind Turbine Failure Detection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31520" y="1188720"/>
            <a:ext cx="10332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SCADA panel data: 8,784 ten-minute timestamps across 15 turbines.</a:t>
            </a:r>
          </a:p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Input groups: weather, production, rotational speed, temperatures, vibration spectra, oil condition, operating history and maintenance context.</a:t>
            </a:r>
          </a:p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Target: failure indicates the condition recorded at the timestamp.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6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0292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Model Building — Baseline Validation Comparison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</a:defRPr>
            </a:pPr>
            <a:r>
              <a:t>Appendix  |  Wind Turbine Failure Detection</a:t>
            </a:r>
          </a:p>
        </p:txBody>
      </p:sp>
      <p:graphicFrame>
        <p:nvGraphicFramePr>
          <p:cNvPr id="164" name="Table 163"/>
          <p:cNvGraphicFramePr>
            <a:graphicFrameLocks noGrp="1"/>
          </p:cNvGraphicFramePr>
          <p:nvPr/>
        </p:nvGraphicFramePr>
        <p:xfrm>
          <a:off x="548640" y="132588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37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37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37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37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0F375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90.7%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27.7%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47.9%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35.1%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95.3%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82.9%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14.4%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94.5%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47.0%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29.7%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36.4%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96.6%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71.0%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60.8%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65.5%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Artificial Neural Network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94.8%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50.3%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68.0%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313A"/>
                          </a:solidFill>
                        </a:defRPr>
                      </a:pPr>
                      <a:r>
                        <a:t>57.8%</a:t>
                      </a:r>
                    </a:p>
                  </a:txBody>
                  <a:tcPr>
                    <a:solidFill>
                      <a:srgbClr val="E7F4F4"/>
                    </a:solidFill>
                  </a:tcPr>
                </a:tc>
              </a:tr>
            </a:tbl>
          </a:graphicData>
        </a:graphic>
      </p:graphicFrame>
      <p:pic>
        <p:nvPicPr>
          <p:cNvPr id="165" name="Picture 164" descr="baseline_rec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160520"/>
            <a:ext cx="832104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6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0292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Model Improvement — Hyperparameter Tuning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</a:defRPr>
            </a:pPr>
            <a:r>
              <a:t>Appendix  |  Wind Turbine Failure Detection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40080" y="960120"/>
            <a:ext cx="106070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XGBoost search: 6 randomized configurations; two timestamp-grouped expanding folds; recall optimization.</a:t>
            </a:r>
          </a:p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Ranges: 80–200 trees, depth 3–6, learning rate 0.02–0.10, row/column sampling 0.70–1.00, min-child weight 1–5.</a:t>
            </a:r>
          </a:p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Best XGBoost CV recall 48.45%; holdout validation recall 69.10%.</a:t>
            </a:r>
          </a:p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ANN: 64/24 layers, BatchNorm, dropout 0.30/0.15, Adam and early stopping.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7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0292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Final Model Performance — Untouched Test Set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</a:defRPr>
            </a:pPr>
            <a:r>
              <a:t>Appendix  |  Wind Turbine Failure Detection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85800" y="1143000"/>
            <a:ext cx="56692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8B8F"/>
                </a:solidFill>
              </a:defRPr>
            </a:pPr>
            <a:r>
              <a:t>Tuned ANN</a:t>
            </a:r>
          </a:p>
          <a:p>
            <a:pPr>
              <a:spcAft>
                <a:spcPts val="1000"/>
              </a:spcAft>
              <a:defRPr sz="1800" b="0">
                <a:solidFill>
                  <a:srgbClr val="008B8F"/>
                </a:solidFill>
              </a:defRPr>
            </a:pPr>
            <a:r>
              <a:t>Accuracy 92.58% | Precision 49.48% | Recall 86.40% | F1 62.93%</a:t>
            </a:r>
          </a:p>
          <a:p>
            <a:pPr>
              <a:spcAft>
                <a:spcPts val="1000"/>
              </a:spcAft>
              <a:defRPr sz="1800" b="0">
                <a:solidFill>
                  <a:srgbClr val="008B8F"/>
                </a:solidFill>
              </a:defRPr>
            </a:pPr>
            <a:r>
              <a:t>TN 17,058 | FP 1,271 | FN 196 | TP 1,245</a:t>
            </a:r>
          </a:p>
          <a:p>
            <a:pPr>
              <a:spcAft>
                <a:spcPts val="1000"/>
              </a:spcAft>
              <a:defRPr sz="1800" b="0">
                <a:solidFill>
                  <a:srgbClr val="008B8F"/>
                </a:solidFill>
              </a:defRPr>
            </a:pPr>
            <a:r>
              <a:t>Interpretation: false negatives require monitoring; false positives require remote review and alert-persistence rules.</a:t>
            </a:r>
          </a:p>
        </p:txBody>
      </p:sp>
      <p:pic>
        <p:nvPicPr>
          <p:cNvPr id="177" name="Picture 176" descr="final_tes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143000"/>
            <a:ext cx="438912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18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0292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Feature Interpretation and Deployment Limitations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</a:defRPr>
            </a:pPr>
            <a:r>
              <a:t>Appendix  |  Wind Turbine Failure Detection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40080" y="960120"/>
            <a:ext cx="5303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Permutation importance measures validation-recall reduction after shuffling an input.</a:t>
            </a:r>
          </a:p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It identifies associated condition signals, not causal mechanisms.</a:t>
            </a:r>
          </a:p>
          <a:p>
            <a:pPr>
              <a:spcAft>
                <a:spcPts val="1000"/>
              </a:spcAft>
              <a:defRPr sz="1800" b="0">
                <a:solidFill>
                  <a:srgbClr val="23313A"/>
                </a:solidFill>
              </a:defRPr>
            </a:pPr>
            <a:r>
              <a:t>Use top signals to focus technician checks; retrain and monitor drift as operations change.</a:t>
            </a:r>
          </a:p>
        </p:txBody>
      </p:sp>
      <p:pic>
        <p:nvPicPr>
          <p:cNvPr id="185" name="Picture 184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5840"/>
            <a:ext cx="52120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Timestamp-Grouped Split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</a:defRPr>
            </a:pPr>
            <a:r>
              <a:t>Appendix  |  Wind Turbine Failure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4241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Train: 92,220 rows | 6,148 timestamps | 1.60% faults</a:t>
            </a:r>
          </a:p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Validation: 19,770 rows | 1,318 timestamps | 5.26% faults</a:t>
            </a:r>
          </a:p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Test: 19,770 rows | 1,318 timestamps | 7.29% faults</a:t>
            </a:r>
          </a:p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No timestamp occurs in more than one partition.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EDA Supporting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</a:defRPr>
            </a:pPr>
            <a:r>
              <a:t>Appendix  |  Wind Turbine Failure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53035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Class distribution and turbine-level failure patterns frame the imbalanced classification task.</a:t>
            </a:r>
          </a:p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Failure prevalence differs over time; accuracy alone is insufficient.</a:t>
            </a:r>
          </a:p>
        </p:txBody>
      </p:sp>
      <p:pic>
        <p:nvPicPr>
          <p:cNvPr id="6" name="Picture 5" descr="eda_target_turb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49377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Operational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</a:defRPr>
            </a:pPr>
            <a:r>
              <a:t>Appendix  |  Wind Turbine Failure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4241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Operations centre reviews alert evidence remotely.</a:t>
            </a:r>
          </a:p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Technician dispatch follows persistence or corroborating signals.</a:t>
            </a:r>
          </a:p>
          <a:p>
            <a:pPr>
              <a:spcAft>
                <a:spcPts val="1000"/>
              </a:spcAft>
              <a:defRPr sz="2000" b="0">
                <a:solidFill>
                  <a:srgbClr val="23313A"/>
                </a:solidFill>
              </a:defRPr>
            </a:pPr>
            <a:r>
              <a:t>Feedback from work orders supports recalibration and governance.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