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19"/>
    <p:sldId id="257" r:id="rId20"/>
    <p:sldId id="258" r:id="rId18"/>
    <p:sldId id="259" r:id="rId17"/>
    <p:sldId id="260" r:id="rId16"/>
    <p:sldId id="261" r:id="rId15"/>
    <p:sldId id="262" r:id="rId14"/>
    <p:sldId id="263" r:id="rId13"/>
    <p:sldId id="264" r:id="rId12"/>
    <p:sldId id="265" r:id="rId11"/>
    <p:sldId id="266" r:id="rId10"/>
    <p:sldId id="267" r:id="rId9"/>
    <p:sldId id="268" r:id="rId8"/>
    <p:sldId id="269" r:id="rId32"/>
    <p:sldId id="270" r:id="rId33"/>
    <p:sldId id="271" r:id="rId34"/>
    <p:sldId id="272" r:id="rId35"/>
    <p:sldId id="273" r:id="rId36"/>
  </p:sldIdLst>
  <p:sldSz cy="5143500" cx="9144000"/>
  <p:notesSz cx="6858000" cy="9144000"/>
  <p:embeddedFontLst>
    <p:embeddedFont>
      <p:font typeface="Nunito SemiBold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Nunito ExtraBold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ir1CuVc7P9GSjuQoiIFJRDez2n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FB5A6A-6A5D-45A8-83F2-B5AB23CB960B}">
  <a:tblStyle styleId="{C1FB5A6A-6A5D-45A8-83F2-B5AB23CB96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slide" Target="slides/slide10.xml"/><Relationship Id="rId12" Type="http://schemas.openxmlformats.org/officeDocument/2006/relationships/slide" Target="slides/slide9.xml"/><Relationship Id="rId13" Type="http://schemas.openxmlformats.org/officeDocument/2006/relationships/slide" Target="slides/slide8.xml"/><Relationship Id="rId14" Type="http://schemas.openxmlformats.org/officeDocument/2006/relationships/slide" Target="slides/slide7.xml"/><Relationship Id="rId15" Type="http://schemas.openxmlformats.org/officeDocument/2006/relationships/slide" Target="slides/slide6.xml"/><Relationship Id="rId16" Type="http://schemas.openxmlformats.org/officeDocument/2006/relationships/slide" Target="slides/slide5.xml"/><Relationship Id="rId17" Type="http://schemas.openxmlformats.org/officeDocument/2006/relationships/slide" Target="slides/slide4.xml"/><Relationship Id="rId18" Type="http://schemas.openxmlformats.org/officeDocument/2006/relationships/slide" Target="slides/slide3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font" Target="fonts/NunitoSemiBold-regular.fntdata"/><Relationship Id="rId22" Type="http://schemas.openxmlformats.org/officeDocument/2006/relationships/font" Target="fonts/NunitoSemiBold-bold.fntdata"/><Relationship Id="rId23" Type="http://schemas.openxmlformats.org/officeDocument/2006/relationships/font" Target="fonts/NunitoSemiBold-italic.fntdata"/><Relationship Id="rId24" Type="http://schemas.openxmlformats.org/officeDocument/2006/relationships/font" Target="fonts/NunitoSemiBold-boldItalic.fntdata"/><Relationship Id="rId25" Type="http://schemas.openxmlformats.org/officeDocument/2006/relationships/font" Target="fonts/Nunito-regular.fntdata"/><Relationship Id="rId26" Type="http://schemas.openxmlformats.org/officeDocument/2006/relationships/font" Target="fonts/Nunito-bold.fntdata"/><Relationship Id="rId27" Type="http://schemas.openxmlformats.org/officeDocument/2006/relationships/font" Target="fonts/Nunito-italic.fntdata"/><Relationship Id="rId28" Type="http://schemas.openxmlformats.org/officeDocument/2006/relationships/font" Target="fonts/Nunito-boldItalic.fntdata"/><Relationship Id="rId29" Type="http://schemas.openxmlformats.org/officeDocument/2006/relationships/font" Target="fonts/NunitoExtraBold-bold.fntdata"/><Relationship Id="rId30" Type="http://schemas.openxmlformats.org/officeDocument/2006/relationships/font" Target="fonts/NunitoExtraBold-boldItalic.fntdata"/><Relationship Id="rId31" Type="http://customschemas.google.com/relationships/presentationmetadata" Target="metadata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p17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2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{C1FB5A6A-6A5D-45A8-83F2-B5AB23CB960B}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8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28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8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8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64" name="Google Shape;64;p20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0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0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0" name="Google Shape;70;p29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80" name="Google Shape;80;p3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{C1FB5A6A-6A5D-45A8-83F2-B5AB23CB960B}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6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6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6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6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5" name="Google Shape;55;p19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6" name="Google Shape;56;p19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9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p19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9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Wind Turbine Failure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78992"/>
            <a:ext cx="5486400" cy="50292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A55"/>
                </a:solidFill>
                <a:latin typeface="Aptos"/>
              </a:rPr>
              <a:t>Aeolus Renewables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09928"/>
            <a:ext cx="6858000" cy="6400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94D"/>
                </a:solidFill>
                <a:latin typeface="Aptos"/>
              </a:rPr>
              <a:t>Drivetrain condition assessment using 10-minute SCADA measurements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15184"/>
            <a:ext cx="7955279" cy="21945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37744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9D9C"/>
                </a:solidFill>
                <a:latin typeface="Aptos"/>
              </a:rPr>
              <a:t>131,760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85032"/>
            <a:ext cx="2377440" cy="25603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487"/>
                </a:solidFill>
                <a:latin typeface="Aptos"/>
              </a:rPr>
              <a:t>sensor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237744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9D9C"/>
                </a:solidFill>
                <a:latin typeface="Aptos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685032"/>
            <a:ext cx="2377440" cy="25603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487"/>
                </a:solidFill>
                <a:latin typeface="Aptos"/>
              </a:rPr>
              <a:t>turbines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017520"/>
            <a:ext cx="237744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09D9C"/>
                </a:solidFill>
                <a:latin typeface="Aptos"/>
              </a:rPr>
              <a:t>3.00%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685032"/>
            <a:ext cx="2377440" cy="25603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17487"/>
                </a:solidFill>
                <a:latin typeface="Aptos"/>
              </a:rPr>
              <a:t>recorded faults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25112"/>
            <a:ext cx="7863840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17487"/>
                </a:solidFill>
                <a:latin typeface="Aptos"/>
              </a:rPr>
              <a:t>Predictive Modeling with Machine Learning and Neural Networks  |  Low-Code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978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6363F"/>
                </a:solidFill>
              </a:defRPr>
            </a:pPr>
            <a:r>
              <a:t>Submission date: October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Contents /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87552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056132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065276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060704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Executive summary and business 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00784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769364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78508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773936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Exploratory analysis and preprocessing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414016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2482596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491740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487168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Model comparison and final selection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27248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195828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04972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200400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5394D"/>
                </a:solidFill>
                <a:latin typeface="Aptos"/>
              </a:rPr>
              <a:t>Actionable recommendations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840480"/>
            <a:ext cx="7955279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3909060"/>
            <a:ext cx="438912" cy="420624"/>
          </a:xfrm>
          <a:prstGeom prst="roundRect">
            <a:avLst>
              <a:gd name="adj" fmla="val 12000"/>
            </a:avLst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918204"/>
            <a:ext cx="43891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3913632"/>
            <a:ext cx="6949440" cy="38404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94D"/>
                </a:solidFill>
                <a:latin typeface="Aptos"/>
              </a:rPr>
              <a:t>Appendix: data, baselines, tuning and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78408"/>
            <a:ext cx="1883664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069848"/>
            <a:ext cx="1627632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VALIDATION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289304"/>
            <a:ext cx="162763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92.49%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709928"/>
            <a:ext cx="1627632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Tuned ANN selected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5456" y="978408"/>
            <a:ext cx="1883664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069848"/>
            <a:ext cx="1627632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1289304"/>
            <a:ext cx="162763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86.40%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1709928"/>
            <a:ext cx="1627632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1,245 / 1,441 faults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978408"/>
            <a:ext cx="1883664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1069848"/>
            <a:ext cx="1627632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1289304"/>
            <a:ext cx="1627632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49.48%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1709928"/>
            <a:ext cx="1627632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False-alert tradeoff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0528" y="978408"/>
            <a:ext cx="2103120" cy="106070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1069848"/>
            <a:ext cx="1847087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1289304"/>
            <a:ext cx="1847087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62.93%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1709928"/>
            <a:ext cx="1847087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Balance of P and 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359152"/>
            <a:ext cx="36576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The operational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2734056"/>
            <a:ext cx="8138160" cy="5486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3A55"/>
                </a:solidFill>
                <a:latin typeface="Aptos"/>
              </a:rPr>
              <a:t>Use the ANN as analyst decision support, not an automatic turbine shutdown trigger.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520440"/>
            <a:ext cx="7955279" cy="868680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703320"/>
            <a:ext cx="7589520" cy="43891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94D"/>
                </a:solidFill>
                <a:latin typeface="Aptos"/>
              </a:rPr>
              <a:t>1,271 false-positive records require remote triage; 196 fault records were missed.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Business Problem Overview and Solution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9264"/>
            <a:ext cx="36576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8046720" cy="5943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3A55"/>
                </a:solidFill>
                <a:latin typeface="Aptos"/>
              </a:rPr>
              <a:t>Missed drivetrain faults can lead to extended downtime, emergency repairs and lost energy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54864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CONDITION-BASED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SCADA readings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779776"/>
            <a:ext cx="201168" cy="3383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D9C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9191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Fault / normal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79776"/>
            <a:ext cx="201168" cy="3383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D9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55464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Operations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2779776"/>
            <a:ext cx="201168" cy="3383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D9C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31736" y="2514600"/>
            <a:ext cx="1965960" cy="100584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1464" y="2642616"/>
            <a:ext cx="1371600" cy="20116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1464" y="2926080"/>
            <a:ext cx="1737360" cy="3474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A55"/>
                </a:solidFill>
                <a:latin typeface="Aptos"/>
              </a:rPr>
              <a:t>Maintenance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803904"/>
            <a:ext cx="7973568" cy="6400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Method: timestamp-grouped chronological split, training-only preprocessing, five baseline models, two tuned candidates, validation-driven selection.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EDA Results — Class Balance and Asset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86968"/>
            <a:ext cx="82296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131,760 readings  •  15 turbines  •  3.00% recorded faults</a:t>
            </a:r>
          </a:p>
        </p:txBody>
      </p:sp>
      <p:pic>
        <p:nvPicPr>
          <p:cNvPr id="9" name="Picture 8" descr="ed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01042"/>
            <a:ext cx="8001000" cy="26111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The minority fault class makes accuracy alone misleading; turbine-level rates support prioritised investigation.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EDA Results — Sensor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06</a:t>
            </a:r>
          </a:p>
        </p:txBody>
      </p:sp>
      <p:pic>
        <p:nvPicPr>
          <p:cNvPr id="8" name="Picture 7" descr="eda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434"/>
            <a:ext cx="5596128" cy="295751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005840"/>
            <a:ext cx="2432304" cy="3374136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192024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27632"/>
            <a:ext cx="1920240" cy="96012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Vibration, gearbox temperature and oil particles are visibly elevated in fault-state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70632"/>
            <a:ext cx="1920240" cy="98755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Wind speed alone provides weaker separation, supporting multi-signal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Data Preprocessing and Leakage Prevention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418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0789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3807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0 duplicate rows; missing gearbox-oil (645), generator-bearing (690), oil-pressure (636).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7" y="9418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0789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TREATMENT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3807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Training-median imputation; ANN StandardScaler fit using training rows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420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6791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FEATURE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9809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Time cycles, power utilisation and temperature-rise variables.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007" y="2542032"/>
            <a:ext cx="3968496" cy="138988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2679192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EVALUATION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2980944"/>
            <a:ext cx="3602736" cy="80467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Timestamp-grouped chronological 70% / 15% / 15%; test reserved until final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Model Performance Summary and Final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078992"/>
          <a:ext cx="79552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57400"/>
                <a:gridCol w="1783080"/>
                <a:gridCol w="2011680"/>
              </a:tblGrid>
              <a:tr h="4632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Tuned model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Validation recall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ANN (selected)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92.49%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53.54%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37.67%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69.10%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69.34%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94D"/>
                          </a:solidFill>
                          <a:latin typeface="Aptos"/>
                        </a:rPr>
                        <a:t>69.57%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2724912"/>
            <a:ext cx="7955279" cy="896112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834640"/>
            <a:ext cx="1828800" cy="21031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Selection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127248"/>
            <a:ext cx="7452360" cy="3108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A55"/>
                </a:solidFill>
                <a:latin typeface="Aptos"/>
              </a:rPr>
              <a:t>Maximise validation recall; F1 and precision are secondary tie-breakers.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77056"/>
            <a:ext cx="7955279" cy="64008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ANN catches more recorded fault states. XGBoost offers better precision and F1, so the false-alert tradeoff must be managed.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Actionable Business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C8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MAIN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4183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10642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01 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42646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Review persistent model alerts and corroborating sensor signals remotely.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7" y="94183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10642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02 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42646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Prioritise technician inspections when risk persists across successive intervals.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8775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75234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03  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07238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Link alerts to work orders; track false alarms, missed faults, and operational workload.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007" y="2587752"/>
            <a:ext cx="3959352" cy="144475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2752344"/>
            <a:ext cx="36118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04  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072384"/>
            <a:ext cx="3639312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Run prospective field validation before promising lead time or cost savings.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03520"/>
            <a:ext cx="10607040" cy="685800"/>
          </a:xfrm>
          <a:prstGeom prst="rect">
            <a:avLst/>
          </a:prstGeom>
          <a:solidFill>
            <a:srgbClr val="EBF6F6"/>
          </a:solidFill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6363F"/>
                </a:solidFill>
              </a:defRPr>
            </a:pPr>
            <a:r>
              <a:t>Evidence base: 196 missed recorded fault states justify recall-first selection; 1,271 false-positive records justify remote triage before a technician visit. Track alert persistence, missed states, false-alert workload, work-order outcomes and data drift during a pilot.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APPENDIX — Data Background and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14400"/>
            <a:ext cx="4572000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SCADA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80744"/>
            <a:ext cx="8046720" cy="45720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394D"/>
                </a:solidFill>
                <a:latin typeface="Aptos"/>
              </a:rPr>
              <a:t>8,784 timestamp groups, recorded at 10-minute intervals across 15 turbines.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1168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9397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0487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Wind, ambient conditions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27448" y="201168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09397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Operation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0487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Power and rotational speeds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10896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19125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215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Bearing heat, vibration, oil particles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27448" y="3108960"/>
            <a:ext cx="3913632" cy="91440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191256"/>
            <a:ext cx="347472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Asset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02152"/>
            <a:ext cx="365760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394D"/>
                </a:solidFill>
                <a:latin typeface="Aptos"/>
              </a:rPr>
              <a:t>Hours, load cycles and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4370832"/>
            <a:ext cx="7955279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D9C"/>
                </a:solidFill>
                <a:latin typeface="Aptos"/>
              </a:rPr>
              <a:t>Target: failure = 1 denotes a recorded fault condition, not a future failure horizon.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Model Building — Five Baseline Classifiers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996696"/>
          <a:ext cx="507492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877824"/>
                <a:gridCol w="886968"/>
                <a:gridCol w="896112"/>
                <a:gridCol w="841248"/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91440" marR="45720" marT="54864" marB="36576" anchor="ctr">
                    <a:solidFill>
                      <a:srgbClr val="143A5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Decision Tree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90.70%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27.74%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47.93%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35.14%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95.35%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82.87%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14.44%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24.59%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94.54%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46.96%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29.74%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36.42%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96.64%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71.01%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60.83%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65.53%</a:t>
                      </a:r>
                    </a:p>
                  </a:txBody>
                  <a:tcPr marL="91440" marR="45720" marT="54864" marB="36576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ANN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94.79%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50.28%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68.05%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0">
                          <a:solidFill>
                            <a:srgbClr val="25394D"/>
                          </a:solidFill>
                          <a:latin typeface="Aptos"/>
                        </a:rPr>
                        <a:t>57.83%</a:t>
                      </a:r>
                    </a:p>
                  </a:txBody>
                  <a:tcPr marL="91440" marR="45720" marT="54864" marB="36576" anchor="ctr"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baseline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445862"/>
            <a:ext cx="3145536" cy="18997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4142232"/>
            <a:ext cx="7909560" cy="32004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ANN and XGBoost have the highest baseline recall and were selected for tuning.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Model Improvement — Hyperparameter 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12</a:t>
            </a:r>
          </a:p>
        </p:txBody>
      </p:sp>
      <p:pic>
        <p:nvPicPr>
          <p:cNvPr id="8" name="Picture 7" descr="tuning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9070"/>
            <a:ext cx="4636008" cy="23162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0" y="996696"/>
            <a:ext cx="3282696" cy="3355848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133856"/>
            <a:ext cx="265176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XGBOOST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417320"/>
            <a:ext cx="2743200" cy="7680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6 sampled configurations; 2 timestamp-grouped expanding folds; recall objective.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286000"/>
            <a:ext cx="2788920" cy="5394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Best CV recall 48.45%; holdout validation recall 69.10%.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953512"/>
            <a:ext cx="265176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ANN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236976"/>
            <a:ext cx="2779776" cy="75895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394D"/>
                </a:solidFill>
                <a:latin typeface="Aptos"/>
              </a:rPr>
              <a:t>64/24 hidden units; BatchNorm, dropout 0.30/0.15, Adam, early stopping.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Final Model Performance — Untouched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13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189" y="923544"/>
            <a:ext cx="3580421" cy="35478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" y="9875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078992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298448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86.40%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8" y="9875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0904" y="1078992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1298448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49.48%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219456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286000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2505456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92.58%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32888" y="2194560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0904" y="2286000"/>
            <a:ext cx="1664208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0904" y="2505456"/>
            <a:ext cx="1664208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62.93%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7" y="3474720"/>
            <a:ext cx="3886200" cy="841248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648456"/>
            <a:ext cx="3602736" cy="53035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43A55"/>
                </a:solidFill>
                <a:latin typeface="Aptos"/>
              </a:rPr>
              <a:t>1,245 detected • 196 missed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43A55"/>
                </a:solidFill>
                <a:latin typeface="Aptos"/>
              </a:rPr>
              <a:t>1,271 false alerts • 17,058 true normals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Feature Interpretation and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14</a:t>
            </a:r>
          </a:p>
        </p:txBody>
      </p:sp>
      <p:pic>
        <p:nvPicPr>
          <p:cNvPr id="8" name="Picture 7" descr="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1" y="923544"/>
            <a:ext cx="5779008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91656" y="1033271"/>
            <a:ext cx="2194560" cy="3273552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234440"/>
            <a:ext cx="18288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KEY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572768"/>
            <a:ext cx="1874519" cy="1042415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25394D"/>
                </a:solidFill>
                <a:latin typeface="Aptos"/>
              </a:rPr>
              <a:t>Drivetrain vibration and oil particle count show the largest validation-recall impacts.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752344"/>
            <a:ext cx="1874519" cy="12801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25394D"/>
                </a:solidFill>
                <a:latin typeface="Aptos"/>
              </a:rPr>
              <a:t>Permutation importance measures association, not causation or a future-failure lead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Timestamp-Grouped Split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87552"/>
            <a:ext cx="2633472" cy="117043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078992"/>
            <a:ext cx="2377439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298448"/>
            <a:ext cx="2377439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92,220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1719072"/>
            <a:ext cx="2377439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6,148 timestamps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987552"/>
            <a:ext cx="2633472" cy="117043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1078992"/>
            <a:ext cx="2377439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1298448"/>
            <a:ext cx="2377439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19,770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1719072"/>
            <a:ext cx="2377439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1,318 timestamps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987552"/>
            <a:ext cx="2633472" cy="117043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078992"/>
            <a:ext cx="2377439" cy="1737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17487"/>
                </a:solidFill>
                <a:latin typeface="Aptos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1298448"/>
            <a:ext cx="2377439" cy="365760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43A55"/>
                </a:solidFill>
                <a:latin typeface="Aptos"/>
              </a:rPr>
              <a:t>19,770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1719072"/>
            <a:ext cx="2377439" cy="237744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17487"/>
                </a:solidFill>
                <a:latin typeface="Aptos"/>
              </a:rPr>
              <a:t>1,318 timestamps</a:t>
            </a:r>
          </a:p>
        </p:txBody>
      </p:sp>
      <p:pic>
        <p:nvPicPr>
          <p:cNvPr id="20" name="Picture 19" descr="split_pre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81481"/>
            <a:ext cx="5029200" cy="1594453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897880" y="2441448"/>
            <a:ext cx="2624328" cy="1600200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2569464"/>
            <a:ext cx="224028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LEAKAGE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2916936"/>
            <a:ext cx="2167128" cy="102412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25394D"/>
                </a:solidFill>
                <a:latin typeface="Aptos"/>
              </a:rPr>
              <a:t>All 15 turbine records at a timestamp remain in the same partition. Failure prevalence changes over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4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9144000" cy="41148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123444"/>
            <a:ext cx="8549640" cy="35661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Operational Use Case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782312"/>
            <a:ext cx="8503920" cy="8890"/>
          </a:xfrm>
          <a:prstGeom prst="rect">
            <a:avLst/>
          </a:prstGeom>
          <a:solidFill>
            <a:srgbClr val="009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256032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17487"/>
                </a:solidFill>
                <a:latin typeface="Apto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828032"/>
            <a:ext cx="2377440" cy="164592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17487"/>
                </a:solidFill>
                <a:latin typeface="Aptos"/>
              </a:rPr>
              <a:t>Wind Turbine Failure Detection  •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33271"/>
            <a:ext cx="2587752" cy="153619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197864"/>
            <a:ext cx="2203704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45336"/>
            <a:ext cx="2212848" cy="8595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Model flags current abnormal condition.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033271"/>
            <a:ext cx="2587752" cy="153619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197864"/>
            <a:ext cx="2203704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1545336"/>
            <a:ext cx="2212848" cy="8595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Analyst checks persistence and supporting sensors.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033271"/>
            <a:ext cx="2587752" cy="1536192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197864"/>
            <a:ext cx="2203704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545336"/>
            <a:ext cx="2212848" cy="85953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Maintenance team prioritises planned inspection.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16936"/>
            <a:ext cx="7955279" cy="1271016"/>
          </a:xfrm>
          <a:prstGeom prst="roundRect">
            <a:avLst>
              <a:gd name="adj" fmla="val 12000"/>
            </a:avLst>
          </a:prstGeom>
          <a:solidFill>
            <a:srgbClr val="EA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7315200" cy="246888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D9C"/>
                </a:solidFill>
                <a:latin typeface="Aptos"/>
              </a:rPr>
              <a:t>DEPLOYMENT 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74720"/>
            <a:ext cx="7543800" cy="539496"/>
          </a:xfrm>
          <a:prstGeom prst="rect">
            <a:avLst/>
          </a:prstGeom>
          <a:noFill/>
        </p:spPr>
        <p:txBody>
          <a:bodyPr wrap="square" lIns="18288" rIns="18288" tIns="16459" bIns="16459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5394D"/>
                </a:solidFill>
                <a:latin typeface="Aptos"/>
              </a:rPr>
              <a:t>Retrospective proof of concept: prospectively validate alert value, technician workload, model drift and downtime outcomes before automated action or savings claims.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EDA Results — Multivariate Sensor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18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FFFF"/>
                </a:solidFill>
              </a:defRPr>
            </a:pPr>
            <a:r>
              <a:t>MAIN PRESENTATION  •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6363F"/>
                </a:solidFill>
              </a:defRPr>
            </a:pPr>
            <a:r>
              <a:t>Correlation heatmap uses actual SCADA values across thermal, vibration, oil and operating variables.</a:t>
            </a:r>
          </a:p>
        </p:txBody>
      </p:sp>
      <p:pic>
        <p:nvPicPr>
          <p:cNvPr id="7" name="Picture 6" descr="eda_multivariat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577840" cy="40566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417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6363F"/>
                </a:solidFill>
              </a:defRPr>
            </a:pPr>
            <a:r>
              <a:t>What the data shows</a:t>
            </a:r>
          </a:p>
          <a:p>
            <a:pPr>
              <a:defRPr sz="1600" b="0">
                <a:solidFill>
                  <a:srgbClr val="26363F"/>
                </a:solidFill>
              </a:defRPr>
            </a:pPr>
            <a:r>
              <a:t>• Drivetrain vibration has the strongest positive correlation with recorded fault condition (0.54).</a:t>
            </a:r>
          </a:p>
          <a:p>
            <a:pPr>
              <a:defRPr sz="1600" b="0">
                <a:solidFill>
                  <a:srgbClr val="26363F"/>
                </a:solidFill>
              </a:defRPr>
            </a:pPr>
            <a:r>
              <a:t>• Oil-particle count is also materially positive (0.47); bearing-frequency vibration is 0.23.</a:t>
            </a:r>
          </a:p>
          <a:p>
            <a:pPr>
              <a:defRPr sz="1600" b="0">
                <a:solidFill>
                  <a:srgbClr val="26363F"/>
                </a:solidFill>
              </a:defRPr>
            </a:pPr>
            <a:r>
              <a:t>• Oil pressure is negatively related (-0.17); gearbox bearing temperature is weaker (0.10).</a:t>
            </a:r>
          </a:p>
          <a:p>
            <a:pPr>
              <a:defRPr sz="1600" b="0">
                <a:solidFill>
                  <a:srgbClr val="26363F"/>
                </a:solidFill>
              </a:defRPr>
            </a:pPr>
          </a:p>
          <a:p>
            <a:pPr>
              <a:defRPr sz="1600" b="0">
                <a:solidFill>
                  <a:srgbClr val="26363F"/>
                </a:solidFill>
              </a:defRPr>
            </a:pPr>
            <a:r>
              <a:t>Business implication</a:t>
            </a:r>
          </a:p>
          <a:p>
            <a:pPr>
              <a:defRPr sz="1600" b="0">
                <a:solidFill>
                  <a:srgbClr val="26363F"/>
                </a:solidFill>
              </a:defRPr>
            </a:pPr>
            <a:r>
              <a:t>No single sensor separates every state. The multi-channel model combines complementary signals and reduces dependence on rigid individual thresholds.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Tuning Comparison — Recall First, Precision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18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FFFF"/>
                </a:solidFill>
              </a:defRPr>
            </a:pPr>
            <a:r>
              <a:t>APPENDIX  •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6363F"/>
                </a:solidFill>
              </a:defRPr>
            </a:pPr>
            <a:r>
              <a:t>Both candidates were chosen from baseline validation evidence. Selection used holdout validation recall only; test results were excluded.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087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C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Baseline P / R / F1</a:t>
                      </a:r>
                    </a:p>
                  </a:txBody>
                  <a:tcPr>
                    <a:solidFill>
                      <a:srgbClr val="0C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Tuned P / R / F1</a:t>
                      </a:r>
                    </a:p>
                  </a:txBody>
                  <a:tcPr>
                    <a:solidFill>
                      <a:srgbClr val="0C3A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Tuning method</a:t>
                      </a:r>
                    </a:p>
                  </a:txBody>
                  <a:tcPr>
                    <a:solidFill>
                      <a:srgbClr val="0C3A5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63F"/>
                          </a:solidFill>
                        </a:defRPr>
                      </a:pPr>
                      <a:r>
                        <a:t>ANN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63F"/>
                          </a:solidFill>
                        </a:defRPr>
                      </a:pPr>
                      <a:r>
                        <a:t>50.28% / 68.05% / 57.83%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63F"/>
                          </a:solidFill>
                        </a:defRPr>
                      </a:pPr>
                      <a:r>
                        <a:t>37.67% / 92.49% / 53.54%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63F"/>
                          </a:solidFill>
                        </a:defRPr>
                      </a:pPr>
                      <a:r>
                        <a:t>64/24 units; BatchNorm; dropout 0.30/0.15; Adam; early stopping</a:t>
                      </a:r>
                    </a:p>
                  </a:txBody>
                  <a:tcPr>
                    <a:solidFill>
                      <a:srgbClr val="EBF6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63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63F"/>
                          </a:solidFill>
                        </a:defRPr>
                      </a:pPr>
                      <a:r>
                        <a:t>71.01% / 60.83% / 65.53%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63F"/>
                          </a:solidFill>
                        </a:defRPr>
                      </a:pPr>
                      <a:r>
                        <a:t>69.57% / 69.10% / 69.34%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63F"/>
                          </a:solidFill>
                        </a:defRPr>
                      </a:pPr>
                      <a:r>
                        <a:t>6 randomized configurations; two expanding timestamp-grouped folds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794760"/>
            <a:ext cx="10515600" cy="1508760"/>
          </a:xfrm>
          <a:prstGeom prst="rect">
            <a:avLst/>
          </a:prstGeom>
          <a:solidFill>
            <a:srgbClr val="EBF6F6"/>
          </a:solidFill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363F"/>
                </a:solidFill>
              </a:defRPr>
            </a:pPr>
            <a:r>
              <a:t>Why ANN is selected</a:t>
            </a:r>
          </a:p>
          <a:p>
            <a:pPr>
              <a:defRPr sz="1700" b="0">
                <a:solidFill>
                  <a:srgbClr val="26363F"/>
                </a:solidFill>
              </a:defRPr>
            </a:pPr>
            <a:r>
              <a:t>ANN has the highest validation recall (92.49%), so it detects more recorded fault states under the declared business priority. XGBoost has higher precision and F1, making it a credible lower-alert-burden alternative. This trade-off is documented rather than hidden.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