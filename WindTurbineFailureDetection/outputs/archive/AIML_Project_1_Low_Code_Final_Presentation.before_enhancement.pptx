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metadata" ContentType="application/binary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  <p:sldMasterId id="2147483659" r:id="rId6"/>
  </p:sldMasterIdLst>
  <p:notesMasterIdLst>
    <p:notesMasterId r:id="rId7"/>
  </p:notesMasterIdLst>
  <p:sldIdLst>
    <p:sldId id="256" r:id="rId19"/>
    <p:sldId id="257" r:id="rId20"/>
    <p:sldId id="258" r:id="rId18"/>
    <p:sldId id="259" r:id="rId17"/>
    <p:sldId id="260" r:id="rId16"/>
    <p:sldId id="261" r:id="rId15"/>
    <p:sldId id="262" r:id="rId14"/>
    <p:sldId id="263" r:id="rId13"/>
    <p:sldId id="264" r:id="rId12"/>
    <p:sldId id="265" r:id="rId11"/>
    <p:sldId id="266" r:id="rId10"/>
    <p:sldId id="267" r:id="rId9"/>
    <p:sldId id="268" r:id="rId8"/>
    <p:sldId id="269" r:id="rId32"/>
    <p:sldId id="270" r:id="rId33"/>
    <p:sldId id="271" r:id="rId34"/>
  </p:sldIdLst>
  <p:sldSz cy="5143500" cx="9144000"/>
  <p:notesSz cx="6858000" cy="9144000"/>
  <p:embeddedFontLst>
    <p:embeddedFont>
      <p:font typeface="Nunito SemiBold"/>
      <p:regular r:id="rId21"/>
      <p:bold r:id="rId22"/>
      <p:italic r:id="rId23"/>
      <p:boldItalic r:id="rId24"/>
    </p:embeddedFont>
    <p:embeddedFont>
      <p:font typeface="Nunito"/>
      <p:regular r:id="rId25"/>
      <p:bold r:id="rId26"/>
      <p:italic r:id="rId27"/>
      <p:boldItalic r:id="rId28"/>
    </p:embeddedFont>
    <p:embeddedFont>
      <p:font typeface="Nunito ExtraBold"/>
      <p:bold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31" roundtripDataSignature="AMtx7mir1CuVc7P9GSjuQoiIFJRDez2n+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1FB5A6A-6A5D-45A8-83F2-B5AB23CB960B}">
  <a:tblStyle styleId="{C1FB5A6A-6A5D-45A8-83F2-B5AB23CB960B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5B9BD5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5B9BD5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fill>
          <a:solidFill>
            <a:srgbClr val="5B9BD5">
              <a:alpha val="20000"/>
            </a:srgbClr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5B9BD5">
              <a:alpha val="20000"/>
            </a:srgbClr>
          </a:solidFill>
        </a:fill>
      </a:tcStyle>
    </a:band1V>
    <a:band2V>
      <a:tcTxStyle b="off" i="off"/>
    </a:band2V>
    <a:lastCol>
      <a:tcTxStyle b="on" i="off"/>
    </a:lastCol>
    <a:firstCol>
      <a:tcTxStyle b="on" i="off"/>
    </a:firstCol>
    <a:lastRow>
      <a:tcTxStyle b="on" i="off"/>
      <a:tcStyle>
        <a:tcBdr>
          <a:top>
            <a:ln cap="flat" cmpd="sng" w="12700">
              <a:solidFill>
                <a:srgbClr val="5B9BD5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 b="off" i="off"/>
    </a:seCell>
    <a:swCell>
      <a:tcTxStyle b="off" i="off"/>
    </a:swCell>
    <a:firstRow>
      <a:tcTxStyle b="on" i="off"/>
      <a:tcStyle>
        <a:tcBdr>
          <a:bottom>
            <a:ln cap="flat" cmpd="sng" w="12700">
              <a:solidFill>
                <a:srgbClr val="5B9BD5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3.xml"/><Relationship Id="rId9" Type="http://schemas.openxmlformats.org/officeDocument/2006/relationships/slide" Target="slides/slide12.xml"/><Relationship Id="rId10" Type="http://schemas.openxmlformats.org/officeDocument/2006/relationships/slide" Target="slides/slide11.xml"/><Relationship Id="rId11" Type="http://schemas.openxmlformats.org/officeDocument/2006/relationships/slide" Target="slides/slide10.xml"/><Relationship Id="rId12" Type="http://schemas.openxmlformats.org/officeDocument/2006/relationships/slide" Target="slides/slide9.xml"/><Relationship Id="rId13" Type="http://schemas.openxmlformats.org/officeDocument/2006/relationships/slide" Target="slides/slide8.xml"/><Relationship Id="rId14" Type="http://schemas.openxmlformats.org/officeDocument/2006/relationships/slide" Target="slides/slide7.xml"/><Relationship Id="rId15" Type="http://schemas.openxmlformats.org/officeDocument/2006/relationships/slide" Target="slides/slide6.xml"/><Relationship Id="rId16" Type="http://schemas.openxmlformats.org/officeDocument/2006/relationships/slide" Target="slides/slide5.xml"/><Relationship Id="rId17" Type="http://schemas.openxmlformats.org/officeDocument/2006/relationships/slide" Target="slides/slide4.xml"/><Relationship Id="rId18" Type="http://schemas.openxmlformats.org/officeDocument/2006/relationships/slide" Target="slides/slide3.xml"/><Relationship Id="rId19" Type="http://schemas.openxmlformats.org/officeDocument/2006/relationships/slide" Target="slides/slide1.xml"/><Relationship Id="rId20" Type="http://schemas.openxmlformats.org/officeDocument/2006/relationships/slide" Target="slides/slide2.xml"/><Relationship Id="rId21" Type="http://schemas.openxmlformats.org/officeDocument/2006/relationships/font" Target="fonts/NunitoSemiBold-regular.fntdata"/><Relationship Id="rId22" Type="http://schemas.openxmlformats.org/officeDocument/2006/relationships/font" Target="fonts/NunitoSemiBold-bold.fntdata"/><Relationship Id="rId23" Type="http://schemas.openxmlformats.org/officeDocument/2006/relationships/font" Target="fonts/NunitoSemiBold-italic.fntdata"/><Relationship Id="rId24" Type="http://schemas.openxmlformats.org/officeDocument/2006/relationships/font" Target="fonts/NunitoSemiBold-boldItalic.fntdata"/><Relationship Id="rId25" Type="http://schemas.openxmlformats.org/officeDocument/2006/relationships/font" Target="fonts/Nunito-regular.fntdata"/><Relationship Id="rId26" Type="http://schemas.openxmlformats.org/officeDocument/2006/relationships/font" Target="fonts/Nunito-bold.fntdata"/><Relationship Id="rId27" Type="http://schemas.openxmlformats.org/officeDocument/2006/relationships/font" Target="fonts/Nunito-italic.fntdata"/><Relationship Id="rId28" Type="http://schemas.openxmlformats.org/officeDocument/2006/relationships/font" Target="fonts/Nunito-boldItalic.fntdata"/><Relationship Id="rId29" Type="http://schemas.openxmlformats.org/officeDocument/2006/relationships/font" Target="fonts/NunitoExtraBold-bold.fntdata"/><Relationship Id="rId30" Type="http://schemas.openxmlformats.org/officeDocument/2006/relationships/font" Target="fonts/NunitoExtraBold-boldItalic.fntdata"/><Relationship Id="rId31" Type="http://customschemas.google.com/relationships/presentationmetadata" Target="metadata"/><Relationship Id="rId32" Type="http://schemas.openxmlformats.org/officeDocument/2006/relationships/slide" Target="slides/slide14.xml"/><Relationship Id="rId33" Type="http://schemas.openxmlformats.org/officeDocument/2006/relationships/slide" Target="slides/slide15.xml"/><Relationship Id="rId34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17"/>
          <p:cNvSpPr txBox="1"/>
          <p:nvPr>
            <p:ph type="ctrTitle"/>
          </p:nvPr>
        </p:nvSpPr>
        <p:spPr>
          <a:xfrm>
            <a:off x="2210208" y="744575"/>
            <a:ext cx="66222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16" name="Google Shape;16;p17"/>
          <p:cNvSpPr txBox="1"/>
          <p:nvPr>
            <p:ph idx="1" type="subTitle"/>
          </p:nvPr>
        </p:nvSpPr>
        <p:spPr>
          <a:xfrm>
            <a:off x="2210202" y="2834125"/>
            <a:ext cx="66222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8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19" name="Google Shape;19;p18"/>
          <p:cNvSpPr txBox="1"/>
          <p:nvPr>
            <p:ph idx="1" type="body"/>
          </p:nvPr>
        </p:nvSpPr>
        <p:spPr>
          <a:xfrm>
            <a:off x="202550" y="861975"/>
            <a:ext cx="8629800" cy="37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1pPr>
            <a:lvl2pPr indent="-31115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4pPr>
            <a:lvl5pPr indent="-2921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5pPr>
            <a:lvl6pPr indent="-28575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6pPr>
            <a:lvl7pPr indent="-2794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7pPr>
            <a:lvl8pPr indent="-27305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8pPr>
            <a:lvl9pPr indent="-2667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20" name="Google Shape;20;p18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1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9pPr>
          </a:lstStyle>
          <a:p/>
        </p:txBody>
      </p:sp>
      <p:sp>
        <p:nvSpPr>
          <p:cNvPr id="23" name="Google Shape;23;p21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able">
  <p:cSld name="CUSTOM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2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graphicFrame>
        <p:nvGraphicFramePr>
          <p:cNvPr id="26" name="Google Shape;26;p22"/>
          <p:cNvGraphicFramePr/>
          <p:nvPr/>
        </p:nvGraphicFramePr>
        <p:xfrm>
          <a:off x="201942" y="83366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{C1FB5A6A-6A5D-45A8-83F2-B5AB23CB960B}</a:tableStyleId>
              </a:tblPr>
              <a:tblGrid>
                <a:gridCol w="883125"/>
                <a:gridCol w="3886050"/>
                <a:gridCol w="3886050"/>
              </a:tblGrid>
              <a:tr h="673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Cluster</a:t>
                      </a:r>
                      <a:endParaRPr sz="14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Cluster Profile </a:t>
                      </a:r>
                      <a:endParaRPr sz="14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Business Insights for Marketing Team</a:t>
                      </a:r>
                      <a:endParaRPr sz="14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753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1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High value customers who have many credit cards and prefer to engage online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Engage Online – Set up priority calling in lines – Upsell and Cross sell premium products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669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2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aseline="30000"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..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669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3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669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</a:tbl>
          </a:graphicData>
        </a:graphic>
      </p:graphicFrame>
      <p:sp>
        <p:nvSpPr>
          <p:cNvPr id="27" name="Google Shape;27;p22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3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30" name="Google Shape;30;p23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23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23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4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35" name="Google Shape;35;p24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5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8" name="Google Shape;38;p25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6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26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26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26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238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115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Char char="○"/>
              <a:defRPr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Char char="○"/>
              <a:defRPr/>
            </a:lvl5pPr>
            <a:lvl6pPr indent="-28575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Char char="■"/>
              <a:defRPr/>
            </a:lvl6pPr>
            <a:lvl7pPr indent="-2794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Char char="●"/>
              <a:defRPr/>
            </a:lvl7pPr>
            <a:lvl8pPr indent="-27305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Char char="○"/>
              <a:defRPr/>
            </a:lvl8pPr>
            <a:lvl9pPr indent="-2667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Char char="■"/>
              <a:defRPr/>
            </a:lvl9pPr>
          </a:lstStyle>
          <a:p/>
        </p:txBody>
      </p:sp>
      <p:sp>
        <p:nvSpPr>
          <p:cNvPr id="44" name="Google Shape;44;p26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7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8"/>
          <p:cNvSpPr/>
          <p:nvPr/>
        </p:nvSpPr>
        <p:spPr>
          <a:xfrm>
            <a:off x="1" y="-335"/>
            <a:ext cx="9144600" cy="5143800"/>
          </a:xfrm>
          <a:prstGeom prst="rect">
            <a:avLst/>
          </a:prstGeom>
          <a:solidFill>
            <a:srgbClr val="0E39A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close up of a logo&#10;&#10;Description automatically generated" id="49" name="Google Shape;49;p28"/>
          <p:cNvPicPr preferRelativeResize="0"/>
          <p:nvPr/>
        </p:nvPicPr>
        <p:blipFill rotWithShape="1">
          <a:blip r:embed="rId2">
            <a:alphaModFix/>
          </a:blip>
          <a:srcRect b="19149" l="42816" r="37294" t="18358"/>
          <a:stretch/>
        </p:blipFill>
        <p:spPr>
          <a:xfrm>
            <a:off x="6052536" y="514443"/>
            <a:ext cx="2095112" cy="3703320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28"/>
          <p:cNvSpPr txBox="1"/>
          <p:nvPr>
            <p:ph type="title"/>
          </p:nvPr>
        </p:nvSpPr>
        <p:spPr>
          <a:xfrm>
            <a:off x="70129" y="6703219"/>
            <a:ext cx="15008700" cy="6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85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1" name="Google Shape;51;p28"/>
          <p:cNvSpPr txBox="1"/>
          <p:nvPr/>
        </p:nvSpPr>
        <p:spPr>
          <a:xfrm>
            <a:off x="334565" y="1676232"/>
            <a:ext cx="43728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</a:pPr>
            <a:r>
              <a:rPr b="0" i="0" lang="en" sz="3300" u="none" cap="none" strike="noStrike">
                <a:solidFill>
                  <a:schemeClr val="lt1"/>
                </a:solidFill>
                <a:latin typeface="Nunito ExtraBold"/>
                <a:ea typeface="Nunito ExtraBold"/>
                <a:cs typeface="Nunito ExtraBold"/>
                <a:sym typeface="Nunito ExtraBold"/>
              </a:rPr>
              <a:t>Happy Learning !</a:t>
            </a:r>
            <a:endParaRPr b="0" i="0" sz="3300" u="none" cap="none" strike="noStrike">
              <a:solidFill>
                <a:schemeClr val="lt1"/>
              </a:solidFill>
              <a:latin typeface="Nunito ExtraBold"/>
              <a:ea typeface="Nunito ExtraBold"/>
              <a:cs typeface="Nunito ExtraBold"/>
              <a:sym typeface="Nunito ExtraBold"/>
            </a:endParaRPr>
          </a:p>
        </p:txBody>
      </p:sp>
      <p:pic>
        <p:nvPicPr>
          <p:cNvPr id="52" name="Google Shape;52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5874" y="683275"/>
            <a:ext cx="3757725" cy="825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0"/>
          <p:cNvSpPr/>
          <p:nvPr/>
        </p:nvSpPr>
        <p:spPr>
          <a:xfrm>
            <a:off x="1" y="-335"/>
            <a:ext cx="9144600" cy="5143800"/>
          </a:xfrm>
          <a:prstGeom prst="rect">
            <a:avLst/>
          </a:prstGeom>
          <a:solidFill>
            <a:srgbClr val="0E39A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close up of a logo&#10;&#10;Description automatically generated" id="64" name="Google Shape;64;p20"/>
          <p:cNvPicPr preferRelativeResize="0"/>
          <p:nvPr/>
        </p:nvPicPr>
        <p:blipFill rotWithShape="1">
          <a:blip r:embed="rId2">
            <a:alphaModFix/>
          </a:blip>
          <a:srcRect b="19149" l="42816" r="37294" t="18358"/>
          <a:stretch/>
        </p:blipFill>
        <p:spPr>
          <a:xfrm>
            <a:off x="6052536" y="514443"/>
            <a:ext cx="2095112" cy="3703320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20"/>
          <p:cNvSpPr txBox="1"/>
          <p:nvPr>
            <p:ph type="title"/>
          </p:nvPr>
        </p:nvSpPr>
        <p:spPr>
          <a:xfrm>
            <a:off x="70129" y="6703219"/>
            <a:ext cx="15008700" cy="6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85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6" name="Google Shape;66;p20"/>
          <p:cNvSpPr txBox="1"/>
          <p:nvPr/>
        </p:nvSpPr>
        <p:spPr>
          <a:xfrm>
            <a:off x="334565" y="1676232"/>
            <a:ext cx="43728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</a:pPr>
            <a:r>
              <a:rPr b="0" i="0" lang="en" sz="3300" u="none" cap="none" strike="noStrike">
                <a:solidFill>
                  <a:schemeClr val="lt1"/>
                </a:solidFill>
                <a:latin typeface="Nunito ExtraBold"/>
                <a:ea typeface="Nunito ExtraBold"/>
                <a:cs typeface="Nunito ExtraBold"/>
                <a:sym typeface="Nunito ExtraBold"/>
              </a:rPr>
              <a:t>Happy Learning !</a:t>
            </a:r>
            <a:endParaRPr b="0" i="0" sz="3300" u="none" cap="none" strike="noStrike">
              <a:solidFill>
                <a:schemeClr val="lt1"/>
              </a:solidFill>
              <a:latin typeface="Nunito ExtraBold"/>
              <a:ea typeface="Nunito ExtraBold"/>
              <a:cs typeface="Nunito ExtraBold"/>
              <a:sym typeface="Nunito ExtraBold"/>
            </a:endParaRPr>
          </a:p>
        </p:txBody>
      </p:sp>
      <p:pic>
        <p:nvPicPr>
          <p:cNvPr id="67" name="Google Shape;6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1875" y="769949"/>
            <a:ext cx="3071452" cy="1261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9"/>
          <p:cNvSpPr txBox="1"/>
          <p:nvPr>
            <p:ph type="ctrTitle"/>
          </p:nvPr>
        </p:nvSpPr>
        <p:spPr>
          <a:xfrm>
            <a:off x="2210208" y="744575"/>
            <a:ext cx="66222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70" name="Google Shape;70;p29"/>
          <p:cNvSpPr txBox="1"/>
          <p:nvPr>
            <p:ph idx="1" type="subTitle"/>
          </p:nvPr>
        </p:nvSpPr>
        <p:spPr>
          <a:xfrm>
            <a:off x="2210202" y="2834125"/>
            <a:ext cx="66222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30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9pPr>
          </a:lstStyle>
          <a:p/>
        </p:txBody>
      </p:sp>
      <p:sp>
        <p:nvSpPr>
          <p:cNvPr id="73" name="Google Shape;73;p30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1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76" name="Google Shape;76;p31"/>
          <p:cNvSpPr txBox="1"/>
          <p:nvPr>
            <p:ph idx="1" type="body"/>
          </p:nvPr>
        </p:nvSpPr>
        <p:spPr>
          <a:xfrm>
            <a:off x="202550" y="861975"/>
            <a:ext cx="8629800" cy="37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1pPr>
            <a:lvl2pPr indent="-31115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4pPr>
            <a:lvl5pPr indent="-2921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5pPr>
            <a:lvl6pPr indent="-28575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6pPr>
            <a:lvl7pPr indent="-2794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7pPr>
            <a:lvl8pPr indent="-27305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8pPr>
            <a:lvl9pPr indent="-2667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77" name="Google Shape;77;p31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able">
  <p:cSld name="CUSTOM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2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graphicFrame>
        <p:nvGraphicFramePr>
          <p:cNvPr id="80" name="Google Shape;80;p32"/>
          <p:cNvGraphicFramePr/>
          <p:nvPr/>
        </p:nvGraphicFramePr>
        <p:xfrm>
          <a:off x="201942" y="83366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{C1FB5A6A-6A5D-45A8-83F2-B5AB23CB960B}</a:tableStyleId>
              </a:tblPr>
              <a:tblGrid>
                <a:gridCol w="883125"/>
                <a:gridCol w="3886050"/>
                <a:gridCol w="3886050"/>
              </a:tblGrid>
              <a:tr h="673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Cluster</a:t>
                      </a:r>
                      <a:endParaRPr sz="14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Cluster Profile </a:t>
                      </a:r>
                      <a:endParaRPr sz="14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Business Insights for Marketing Team</a:t>
                      </a:r>
                      <a:endParaRPr sz="14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753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1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High value customers who have many credit cards and prefer to engage online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Engage Online – Set up priority calling in lines – Upsell and Cross sell premium products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669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2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aseline="30000"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..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669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3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669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</a:tbl>
          </a:graphicData>
        </a:graphic>
      </p:graphicFrame>
      <p:sp>
        <p:nvSpPr>
          <p:cNvPr id="81" name="Google Shape;81;p32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33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84" name="Google Shape;84;p33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5" name="Google Shape;85;p33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6" name="Google Shape;86;p33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34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89" name="Google Shape;89;p34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5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92" name="Google Shape;92;p35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6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36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96" name="Google Shape;96;p36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97" name="Google Shape;97;p36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238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115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Char char="○"/>
              <a:defRPr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Char char="○"/>
              <a:defRPr/>
            </a:lvl5pPr>
            <a:lvl6pPr indent="-28575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Char char="■"/>
              <a:defRPr/>
            </a:lvl6pPr>
            <a:lvl7pPr indent="-2794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Char char="●"/>
              <a:defRPr/>
            </a:lvl7pPr>
            <a:lvl8pPr indent="-27305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Char char="○"/>
              <a:defRPr/>
            </a:lvl8pPr>
            <a:lvl9pPr indent="-2667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Char char="■"/>
              <a:defRPr/>
            </a:lvl9pPr>
          </a:lstStyle>
          <a:p/>
        </p:txBody>
      </p:sp>
      <p:sp>
        <p:nvSpPr>
          <p:cNvPr id="98" name="Google Shape;98;p36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7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theme" Target="../theme/theme3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1.xml"/><Relationship Id="rId3" Type="http://schemas.openxmlformats.org/officeDocument/2006/relationships/slideLayout" Target="../slideLayouts/slideLayout12.xml"/><Relationship Id="rId4" Type="http://schemas.openxmlformats.org/officeDocument/2006/relationships/slideLayout" Target="../slideLayouts/slideLayout13.xml"/><Relationship Id="rId5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6.xml"/><Relationship Id="rId8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0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6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200"/>
              <a:buFont typeface="Nunito"/>
              <a:buNone/>
              <a:defRPr b="1" i="0" sz="22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9pPr>
          </a:lstStyle>
          <a:p/>
        </p:txBody>
      </p:sp>
      <p:sp>
        <p:nvSpPr>
          <p:cNvPr id="7" name="Google Shape;7;p16"/>
          <p:cNvSpPr txBox="1"/>
          <p:nvPr>
            <p:ph idx="1" type="body"/>
          </p:nvPr>
        </p:nvSpPr>
        <p:spPr>
          <a:xfrm>
            <a:off x="311700" y="8610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unito"/>
              <a:buChar char="●"/>
              <a:defRPr b="0" i="0" sz="15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31115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○"/>
              <a:defRPr b="0" i="0" sz="13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3048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Nunito"/>
              <a:buChar char="■"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b="0" i="0" sz="11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21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Nunito"/>
              <a:buChar char="○"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8575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Nunito"/>
              <a:buChar char="■"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794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Nunito"/>
              <a:buChar char="●"/>
              <a:defRPr b="0" i="0" sz="8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7305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"/>
              <a:buChar char="○"/>
              <a:defRPr b="0" i="0" sz="7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667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600"/>
              <a:buFont typeface="Nunito"/>
              <a:buChar char="■"/>
              <a:defRPr b="0" i="0" sz="6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8" name="Google Shape;8;p16"/>
          <p:cNvSpPr txBox="1"/>
          <p:nvPr/>
        </p:nvSpPr>
        <p:spPr>
          <a:xfrm>
            <a:off x="2234400" y="4917657"/>
            <a:ext cx="46752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2700" marR="0" rtl="0" algn="ctr">
              <a:lnSpc>
                <a:spcPct val="102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rPr>
              <a:t>Proprietary content. © Great Learning. All Rights Reserved. Unauthorized use or distribution prohibited.</a:t>
            </a:r>
            <a:endParaRPr b="1" i="0" sz="700" u="none" cap="none" strike="noStrike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9" name="Google Shape;9;p16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0" name="Google Shape;10;p16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7669500" y="68264"/>
            <a:ext cx="1395476" cy="5727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" name="Google Shape;11;p16"/>
          <p:cNvGrpSpPr/>
          <p:nvPr/>
        </p:nvGrpSpPr>
        <p:grpSpPr>
          <a:xfrm>
            <a:off x="6593" y="10"/>
            <a:ext cx="175500" cy="709221"/>
            <a:chOff x="6593" y="10"/>
            <a:chExt cx="175500" cy="709221"/>
          </a:xfrm>
        </p:grpSpPr>
        <p:sp>
          <p:nvSpPr>
            <p:cNvPr id="12" name="Google Shape;12;p16"/>
            <p:cNvSpPr/>
            <p:nvPr/>
          </p:nvSpPr>
          <p:spPr>
            <a:xfrm>
              <a:off x="6593" y="10"/>
              <a:ext cx="175500" cy="355500"/>
            </a:xfrm>
            <a:prstGeom prst="rect">
              <a:avLst/>
            </a:prstGeom>
            <a:solidFill>
              <a:srgbClr val="0E39A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p16"/>
            <p:cNvSpPr/>
            <p:nvPr/>
          </p:nvSpPr>
          <p:spPr>
            <a:xfrm>
              <a:off x="6593" y="353731"/>
              <a:ext cx="175500" cy="355500"/>
            </a:xfrm>
            <a:prstGeom prst="rect">
              <a:avLst/>
            </a:prstGeom>
            <a:solidFill>
              <a:srgbClr val="1974D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9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200"/>
              <a:buFont typeface="Nunito"/>
              <a:buNone/>
              <a:defRPr b="1" i="0" sz="22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9pPr>
          </a:lstStyle>
          <a:p/>
        </p:txBody>
      </p:sp>
      <p:sp>
        <p:nvSpPr>
          <p:cNvPr id="55" name="Google Shape;55;p19"/>
          <p:cNvSpPr txBox="1"/>
          <p:nvPr>
            <p:ph idx="1" type="body"/>
          </p:nvPr>
        </p:nvSpPr>
        <p:spPr>
          <a:xfrm>
            <a:off x="311700" y="8610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unito"/>
              <a:buChar char="●"/>
              <a:defRPr b="0" i="0" sz="15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31115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○"/>
              <a:defRPr b="0" i="0" sz="13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3048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Nunito"/>
              <a:buChar char="■"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b="0" i="0" sz="11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21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Nunito"/>
              <a:buChar char="○"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8575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Nunito"/>
              <a:buChar char="■"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794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Nunito"/>
              <a:buChar char="●"/>
              <a:defRPr b="0" i="0" sz="8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7305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"/>
              <a:buChar char="○"/>
              <a:defRPr b="0" i="0" sz="7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667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600"/>
              <a:buFont typeface="Nunito"/>
              <a:buChar char="■"/>
              <a:defRPr b="0" i="0" sz="6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56" name="Google Shape;56;p19"/>
          <p:cNvSpPr txBox="1"/>
          <p:nvPr/>
        </p:nvSpPr>
        <p:spPr>
          <a:xfrm>
            <a:off x="2234400" y="4917657"/>
            <a:ext cx="46752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2700" marR="0" rtl="0" algn="ctr">
              <a:lnSpc>
                <a:spcPct val="102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rPr>
              <a:t>Proprietary content. © Great Learning. All Rights Reserved. Unauthorized use or distribution prohibited.</a:t>
            </a:r>
            <a:endParaRPr b="1" i="0" sz="700" u="none" cap="none" strike="noStrike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7" name="Google Shape;57;p19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8" name="Google Shape;58;p19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7669500" y="68264"/>
            <a:ext cx="1395476" cy="5727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19"/>
          <p:cNvGrpSpPr/>
          <p:nvPr/>
        </p:nvGrpSpPr>
        <p:grpSpPr>
          <a:xfrm>
            <a:off x="6593" y="10"/>
            <a:ext cx="175500" cy="709221"/>
            <a:chOff x="6593" y="10"/>
            <a:chExt cx="175500" cy="709221"/>
          </a:xfrm>
        </p:grpSpPr>
        <p:sp>
          <p:nvSpPr>
            <p:cNvPr id="60" name="Google Shape;60;p19"/>
            <p:cNvSpPr/>
            <p:nvPr/>
          </p:nvSpPr>
          <p:spPr>
            <a:xfrm>
              <a:off x="6593" y="10"/>
              <a:ext cx="175500" cy="355500"/>
            </a:xfrm>
            <a:prstGeom prst="rect">
              <a:avLst/>
            </a:prstGeom>
            <a:solidFill>
              <a:srgbClr val="0E39A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" name="Google Shape;61;p19"/>
            <p:cNvSpPr/>
            <p:nvPr/>
          </p:nvSpPr>
          <p:spPr>
            <a:xfrm>
              <a:off x="6593" y="353731"/>
              <a:ext cx="175500" cy="355500"/>
            </a:xfrm>
            <a:prstGeom prst="rect">
              <a:avLst/>
            </a:prstGeom>
            <a:solidFill>
              <a:srgbClr val="1974D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mc:AlternateContent>
    <mc:Choice Requires="p14">
      <p:transition p14:dur="0">
        <p:fade thruBlk="1"/>
      </p:transition>
    </mc:Choice>
    <mc:Fallback>
      <p:transition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4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"/>
            <a:ext cx="9144000" cy="41148"/>
          </a:xfrm>
          <a:prstGeom prst="rect">
            <a:avLst/>
          </a:prstGeom>
          <a:solidFill>
            <a:srgbClr val="009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10896" y="123444"/>
            <a:ext cx="8549640" cy="356616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Aptos"/>
              </a:rPr>
              <a:t>Wind Turbine Failure Detection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4782312"/>
            <a:ext cx="8503920" cy="8890"/>
          </a:xfrm>
          <a:prstGeom prst="rect">
            <a:avLst/>
          </a:prstGeom>
          <a:solidFill>
            <a:srgbClr val="C8D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4828032"/>
            <a:ext cx="2560320" cy="164592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617487"/>
                </a:solidFill>
                <a:latin typeface="Aptos"/>
              </a:rPr>
              <a:t>MAIN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4828032"/>
            <a:ext cx="2377440" cy="164592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17487"/>
                </a:solidFill>
                <a:latin typeface="Aptos"/>
              </a:rPr>
              <a:t>Wind Turbine Failure Detection  • 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078992"/>
            <a:ext cx="5486400" cy="502920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43A55"/>
                </a:solidFill>
                <a:latin typeface="Aptos"/>
              </a:rPr>
              <a:t>Aeolus Renewables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709928"/>
            <a:ext cx="6858000" cy="640080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5394D"/>
                </a:solidFill>
                <a:latin typeface="Aptos"/>
              </a:rPr>
              <a:t>Drivetrain condition assessment using 10-minute SCADA measurements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2615184"/>
            <a:ext cx="7955279" cy="21945"/>
          </a:xfrm>
          <a:prstGeom prst="rect">
            <a:avLst/>
          </a:prstGeom>
          <a:solidFill>
            <a:srgbClr val="009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017520"/>
            <a:ext cx="2377440" cy="594360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009D9C"/>
                </a:solidFill>
                <a:latin typeface="Aptos"/>
              </a:rPr>
              <a:t>131,760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685032"/>
            <a:ext cx="2377440" cy="256032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17487"/>
                </a:solidFill>
                <a:latin typeface="Aptos"/>
              </a:rPr>
              <a:t>sensor records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3017520"/>
            <a:ext cx="2377440" cy="594360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009D9C"/>
                </a:solidFill>
                <a:latin typeface="Aptos"/>
              </a:rPr>
              <a:t>15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3685032"/>
            <a:ext cx="2377440" cy="256032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17487"/>
                </a:solidFill>
                <a:latin typeface="Aptos"/>
              </a:rPr>
              <a:t>turbines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89320" y="3017520"/>
            <a:ext cx="2377440" cy="594360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009D9C"/>
                </a:solidFill>
                <a:latin typeface="Aptos"/>
              </a:rPr>
              <a:t>3.00%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89320" y="3685032"/>
            <a:ext cx="2377440" cy="256032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17487"/>
                </a:solidFill>
                <a:latin typeface="Aptos"/>
              </a:rPr>
              <a:t>recorded faults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325112"/>
            <a:ext cx="7863840" cy="237744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17487"/>
                </a:solidFill>
                <a:latin typeface="Aptos"/>
              </a:rPr>
              <a:t>Predictive Modeling with Machine Learning and Neural Networks  |  Low-Code Path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4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"/>
            <a:ext cx="9144000" cy="41148"/>
          </a:xfrm>
          <a:prstGeom prst="rect">
            <a:avLst/>
          </a:prstGeom>
          <a:solidFill>
            <a:srgbClr val="009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10896" y="123444"/>
            <a:ext cx="8549640" cy="356616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Aptos"/>
              </a:rPr>
              <a:t>Contents / Agenda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4782312"/>
            <a:ext cx="8503920" cy="8890"/>
          </a:xfrm>
          <a:prstGeom prst="rect">
            <a:avLst/>
          </a:prstGeom>
          <a:solidFill>
            <a:srgbClr val="C8D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4828032"/>
            <a:ext cx="2560320" cy="164592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617487"/>
                </a:solidFill>
                <a:latin typeface="Aptos"/>
              </a:rPr>
              <a:t>MAIN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4828032"/>
            <a:ext cx="2377440" cy="164592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17487"/>
                </a:solidFill>
                <a:latin typeface="Aptos"/>
              </a:rPr>
              <a:t>Wind Turbine Failure Detection  •  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987552"/>
            <a:ext cx="7955279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85800" y="1056132"/>
            <a:ext cx="438912" cy="420624"/>
          </a:xfrm>
          <a:prstGeom prst="roundRect">
            <a:avLst>
              <a:gd name="adj" fmla="val 12000"/>
            </a:avLst>
          </a:prstGeom>
          <a:solidFill>
            <a:srgbClr val="009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065276"/>
            <a:ext cx="438912" cy="365760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98448" y="1060704"/>
            <a:ext cx="6949440" cy="384048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25394D"/>
                </a:solidFill>
                <a:latin typeface="Aptos"/>
              </a:rPr>
              <a:t>Executive summary and business problem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1700784"/>
            <a:ext cx="7955279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85800" y="1769364"/>
            <a:ext cx="438912" cy="420624"/>
          </a:xfrm>
          <a:prstGeom prst="roundRect">
            <a:avLst>
              <a:gd name="adj" fmla="val 12000"/>
            </a:avLst>
          </a:prstGeom>
          <a:solidFill>
            <a:srgbClr val="009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1778508"/>
            <a:ext cx="438912" cy="365760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98448" y="1773936"/>
            <a:ext cx="6949440" cy="384048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25394D"/>
                </a:solidFill>
                <a:latin typeface="Aptos"/>
              </a:rPr>
              <a:t>Exploratory analysis and preprocessing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2414016"/>
            <a:ext cx="7955279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85800" y="2482596"/>
            <a:ext cx="438912" cy="420624"/>
          </a:xfrm>
          <a:prstGeom prst="roundRect">
            <a:avLst>
              <a:gd name="adj" fmla="val 12000"/>
            </a:avLst>
          </a:prstGeom>
          <a:solidFill>
            <a:srgbClr val="009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2491740"/>
            <a:ext cx="438912" cy="365760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98448" y="2487168"/>
            <a:ext cx="6949440" cy="384048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25394D"/>
                </a:solidFill>
                <a:latin typeface="Aptos"/>
              </a:rPr>
              <a:t>Model comparison and final selection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3127248"/>
            <a:ext cx="7955279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85800" y="3195828"/>
            <a:ext cx="438912" cy="420624"/>
          </a:xfrm>
          <a:prstGeom prst="roundRect">
            <a:avLst>
              <a:gd name="adj" fmla="val 12000"/>
            </a:avLst>
          </a:prstGeom>
          <a:solidFill>
            <a:srgbClr val="009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3204972"/>
            <a:ext cx="438912" cy="365760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98448" y="3200400"/>
            <a:ext cx="6949440" cy="384048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25394D"/>
                </a:solidFill>
                <a:latin typeface="Aptos"/>
              </a:rPr>
              <a:t>Actionable recommendations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" y="3840480"/>
            <a:ext cx="7955279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85800" y="3909060"/>
            <a:ext cx="438912" cy="420624"/>
          </a:xfrm>
          <a:prstGeom prst="roundRect">
            <a:avLst>
              <a:gd name="adj" fmla="val 12000"/>
            </a:avLst>
          </a:prstGeom>
          <a:solidFill>
            <a:srgbClr val="14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3918204"/>
            <a:ext cx="438912" cy="365760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98448" y="3913632"/>
            <a:ext cx="6949440" cy="384048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5394D"/>
                </a:solidFill>
                <a:latin typeface="Aptos"/>
              </a:rPr>
              <a:t>Appendix: data, baselines, tuning and evidence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4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"/>
            <a:ext cx="9144000" cy="41148"/>
          </a:xfrm>
          <a:prstGeom prst="rect">
            <a:avLst/>
          </a:prstGeom>
          <a:solidFill>
            <a:srgbClr val="009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10896" y="123444"/>
            <a:ext cx="8549640" cy="356616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Aptos"/>
              </a:rPr>
              <a:t>Executive 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4782312"/>
            <a:ext cx="8503920" cy="8890"/>
          </a:xfrm>
          <a:prstGeom prst="rect">
            <a:avLst/>
          </a:prstGeom>
          <a:solidFill>
            <a:srgbClr val="C8D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4828032"/>
            <a:ext cx="2560320" cy="164592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617487"/>
                </a:solidFill>
                <a:latin typeface="Aptos"/>
              </a:rPr>
              <a:t>MAIN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4828032"/>
            <a:ext cx="2377440" cy="164592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17487"/>
                </a:solidFill>
                <a:latin typeface="Aptos"/>
              </a:rPr>
              <a:t>Wind Turbine Failure Detection  •  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978408"/>
            <a:ext cx="1883664" cy="1060704"/>
          </a:xfrm>
          <a:prstGeom prst="roundRect">
            <a:avLst>
              <a:gd name="adj" fmla="val 12000"/>
            </a:avLst>
          </a:prstGeom>
          <a:solidFill>
            <a:srgbClr val="F0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" y="1069848"/>
            <a:ext cx="1627632" cy="173736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17487"/>
                </a:solidFill>
                <a:latin typeface="Aptos"/>
              </a:rPr>
              <a:t>VALIDATION RECALL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" y="1289304"/>
            <a:ext cx="1627632" cy="365760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43A55"/>
                </a:solidFill>
                <a:latin typeface="Aptos"/>
              </a:rPr>
              <a:t>92.49%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" y="1709928"/>
            <a:ext cx="1627632" cy="237744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9" b="0" i="0">
                <a:solidFill>
                  <a:srgbClr val="617487"/>
                </a:solidFill>
                <a:latin typeface="Aptos"/>
              </a:rPr>
              <a:t>Tuned ANN selected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05456" y="978408"/>
            <a:ext cx="1883664" cy="1060704"/>
          </a:xfrm>
          <a:prstGeom prst="roundRect">
            <a:avLst>
              <a:gd name="adj" fmla="val 12000"/>
            </a:avLst>
          </a:prstGeom>
          <a:solidFill>
            <a:srgbClr val="F0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33472" y="1069848"/>
            <a:ext cx="1627632" cy="173736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17487"/>
                </a:solidFill>
                <a:latin typeface="Aptos"/>
              </a:rPr>
              <a:t>TEST RECALL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33472" y="1289304"/>
            <a:ext cx="1627632" cy="365760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43A55"/>
                </a:solidFill>
                <a:latin typeface="Aptos"/>
              </a:rPr>
              <a:t>86.40%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33472" y="1709928"/>
            <a:ext cx="1627632" cy="237744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9" b="0" i="0">
                <a:solidFill>
                  <a:srgbClr val="617487"/>
                </a:solidFill>
                <a:latin typeface="Aptos"/>
              </a:rPr>
              <a:t>1,245 / 1,441 faults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07992" y="978408"/>
            <a:ext cx="1883664" cy="1060704"/>
          </a:xfrm>
          <a:prstGeom prst="roundRect">
            <a:avLst>
              <a:gd name="adj" fmla="val 12000"/>
            </a:avLst>
          </a:prstGeom>
          <a:solidFill>
            <a:srgbClr val="F0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36007" y="1069848"/>
            <a:ext cx="1627632" cy="173736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17487"/>
                </a:solidFill>
                <a:latin typeface="Aptos"/>
              </a:rPr>
              <a:t>TEST PRECISION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36007" y="1289304"/>
            <a:ext cx="1627632" cy="365760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43A55"/>
                </a:solidFill>
                <a:latin typeface="Aptos"/>
              </a:rPr>
              <a:t>49.48%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36007" y="1709928"/>
            <a:ext cx="1627632" cy="237744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9" b="0" i="0">
                <a:solidFill>
                  <a:srgbClr val="617487"/>
                </a:solidFill>
                <a:latin typeface="Aptos"/>
              </a:rPr>
              <a:t>False-alert tradeoff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10528" y="978408"/>
            <a:ext cx="2103120" cy="1060704"/>
          </a:xfrm>
          <a:prstGeom prst="roundRect">
            <a:avLst>
              <a:gd name="adj" fmla="val 12000"/>
            </a:avLst>
          </a:prstGeom>
          <a:solidFill>
            <a:srgbClr val="F0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38544" y="1069848"/>
            <a:ext cx="1847087" cy="173736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17487"/>
                </a:solidFill>
                <a:latin typeface="Aptos"/>
              </a:rPr>
              <a:t>TEST F1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38544" y="1289304"/>
            <a:ext cx="1847087" cy="365760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43A55"/>
                </a:solidFill>
                <a:latin typeface="Aptos"/>
              </a:rPr>
              <a:t>62.93%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38544" y="1709928"/>
            <a:ext cx="1847087" cy="237744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9" b="0" i="0">
                <a:solidFill>
                  <a:srgbClr val="617487"/>
                </a:solidFill>
                <a:latin typeface="Aptos"/>
              </a:rPr>
              <a:t>Balance of P and 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2359152"/>
            <a:ext cx="3657600" cy="246888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D9C"/>
                </a:solidFill>
                <a:latin typeface="Aptos"/>
              </a:rPr>
              <a:t>The operational decision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2734056"/>
            <a:ext cx="8138160" cy="548640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43A55"/>
                </a:solidFill>
                <a:latin typeface="Aptos"/>
              </a:rPr>
              <a:t>Use the ANN as analyst decision support, not an automatic turbine shutdown trigger.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" y="3520440"/>
            <a:ext cx="7955279" cy="868680"/>
          </a:xfrm>
          <a:prstGeom prst="roundRect">
            <a:avLst>
              <a:gd name="adj" fmla="val 12000"/>
            </a:avLst>
          </a:prstGeom>
          <a:solidFill>
            <a:srgbClr val="EA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8952" y="3703320"/>
            <a:ext cx="7589520" cy="438912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5394D"/>
                </a:solidFill>
                <a:latin typeface="Aptos"/>
              </a:rPr>
              <a:t>1,271 false-positive records require remote triage; 196 fault records were missed.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4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"/>
            <a:ext cx="9144000" cy="41148"/>
          </a:xfrm>
          <a:prstGeom prst="rect">
            <a:avLst/>
          </a:prstGeom>
          <a:solidFill>
            <a:srgbClr val="009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10896" y="123444"/>
            <a:ext cx="8549640" cy="356616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Aptos"/>
              </a:rPr>
              <a:t>Business Problem Overview and Solution Approach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4782312"/>
            <a:ext cx="8503920" cy="8890"/>
          </a:xfrm>
          <a:prstGeom prst="rect">
            <a:avLst/>
          </a:prstGeom>
          <a:solidFill>
            <a:srgbClr val="C8D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4828032"/>
            <a:ext cx="2560320" cy="164592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617487"/>
                </a:solidFill>
                <a:latin typeface="Aptos"/>
              </a:rPr>
              <a:t>MAIN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4828032"/>
            <a:ext cx="2377440" cy="164592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17487"/>
                </a:solidFill>
                <a:latin typeface="Aptos"/>
              </a:rPr>
              <a:t>Wind Turbine Failure Detection  • 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969264"/>
            <a:ext cx="3657600" cy="246888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D9C"/>
                </a:solidFill>
                <a:latin typeface="Aptos"/>
              </a:rPr>
              <a:t>WHY IT MATTERS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280160"/>
            <a:ext cx="8046720" cy="594360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43A55"/>
                </a:solidFill>
                <a:latin typeface="Aptos"/>
              </a:rPr>
              <a:t>Missed drivetrain faults can lead to extended downtime, emergency repairs and lost energy production.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121408"/>
            <a:ext cx="5486400" cy="246888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D9C"/>
                </a:solidFill>
                <a:latin typeface="Aptos"/>
              </a:rPr>
              <a:t>CONDITION-BASED WORKFLOW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514600"/>
            <a:ext cx="1965960" cy="1005840"/>
          </a:xfrm>
          <a:prstGeom prst="roundRect">
            <a:avLst>
              <a:gd name="adj" fmla="val 12000"/>
            </a:avLst>
          </a:prstGeom>
          <a:solidFill>
            <a:srgbClr val="F0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" y="2642616"/>
            <a:ext cx="1371600" cy="201168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9D9C"/>
                </a:solidFill>
                <a:latin typeface="Apto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2926080"/>
            <a:ext cx="1737360" cy="347472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43A55"/>
                </a:solidFill>
                <a:latin typeface="Aptos"/>
              </a:rPr>
              <a:t>SCADA readings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87168" y="2779776"/>
            <a:ext cx="201168" cy="338328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09D9C"/>
                </a:solidFill>
                <a:latin typeface="Aptos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79191" y="2514600"/>
            <a:ext cx="1965960" cy="1005840"/>
          </a:xfrm>
          <a:prstGeom prst="roundRect">
            <a:avLst>
              <a:gd name="adj" fmla="val 12000"/>
            </a:avLst>
          </a:prstGeom>
          <a:solidFill>
            <a:srgbClr val="F0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2642616"/>
            <a:ext cx="1371600" cy="201168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9D9C"/>
                </a:solidFill>
                <a:latin typeface="Aptos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88920" y="2926080"/>
            <a:ext cx="1737360" cy="347472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43A55"/>
                </a:solidFill>
                <a:latin typeface="Aptos"/>
              </a:rPr>
              <a:t>Fault / normal model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2779776"/>
            <a:ext cx="201168" cy="338328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09D9C"/>
                </a:solidFill>
                <a:latin typeface="Aptos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855464" y="2514600"/>
            <a:ext cx="1965960" cy="1005840"/>
          </a:xfrm>
          <a:prstGeom prst="roundRect">
            <a:avLst>
              <a:gd name="adj" fmla="val 12000"/>
            </a:avLst>
          </a:prstGeom>
          <a:solidFill>
            <a:srgbClr val="F0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65192" y="2642616"/>
            <a:ext cx="1371600" cy="201168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9D9C"/>
                </a:solidFill>
                <a:latin typeface="Apto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65192" y="2926080"/>
            <a:ext cx="1737360" cy="347472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43A55"/>
                </a:solidFill>
                <a:latin typeface="Aptos"/>
              </a:rPr>
              <a:t>Operations review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39712" y="2779776"/>
            <a:ext cx="201168" cy="338328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09D9C"/>
                </a:solidFill>
                <a:latin typeface="Aptos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031736" y="2514600"/>
            <a:ext cx="1965960" cy="1005840"/>
          </a:xfrm>
          <a:prstGeom prst="roundRect">
            <a:avLst>
              <a:gd name="adj" fmla="val 12000"/>
            </a:avLst>
          </a:prstGeom>
          <a:solidFill>
            <a:srgbClr val="F0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41464" y="2642616"/>
            <a:ext cx="1371600" cy="201168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9D9C"/>
                </a:solidFill>
                <a:latin typeface="Aptos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41464" y="2926080"/>
            <a:ext cx="1737360" cy="347472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43A55"/>
                </a:solidFill>
                <a:latin typeface="Aptos"/>
              </a:rPr>
              <a:t>Maintenance action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3803904"/>
            <a:ext cx="7973568" cy="640080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5394D"/>
                </a:solidFill>
                <a:latin typeface="Aptos"/>
              </a:rPr>
              <a:t>Method: timestamp-grouped chronological split, training-only preprocessing, five baseline models, two tuned candidates, validation-driven selection.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4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"/>
            <a:ext cx="9144000" cy="41148"/>
          </a:xfrm>
          <a:prstGeom prst="rect">
            <a:avLst/>
          </a:prstGeom>
          <a:solidFill>
            <a:srgbClr val="009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10896" y="123444"/>
            <a:ext cx="8549640" cy="356616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Aptos"/>
              </a:rPr>
              <a:t>EDA Results — Class Balance and Asset Patterns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4782312"/>
            <a:ext cx="8503920" cy="8890"/>
          </a:xfrm>
          <a:prstGeom prst="rect">
            <a:avLst/>
          </a:prstGeom>
          <a:solidFill>
            <a:srgbClr val="C8D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4828032"/>
            <a:ext cx="2560320" cy="164592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617487"/>
                </a:solidFill>
                <a:latin typeface="Aptos"/>
              </a:rPr>
              <a:t>MAIN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4828032"/>
            <a:ext cx="2377440" cy="164592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17487"/>
                </a:solidFill>
                <a:latin typeface="Aptos"/>
              </a:rPr>
              <a:t>Wind Turbine Failure Detection  • 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886968"/>
            <a:ext cx="8229600" cy="246888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D9C"/>
                </a:solidFill>
                <a:latin typeface="Aptos"/>
              </a:rPr>
              <a:t>131,760 readings  •  15 turbines  •  3.00% recorded faults</a:t>
            </a:r>
          </a:p>
        </p:txBody>
      </p:sp>
      <p:pic>
        <p:nvPicPr>
          <p:cNvPr id="9" name="Picture 8" descr="eda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401042"/>
            <a:ext cx="8001000" cy="261116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0080" y="4206240"/>
            <a:ext cx="7863840" cy="411480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5394D"/>
                </a:solidFill>
                <a:latin typeface="Aptos"/>
              </a:rPr>
              <a:t>The minority fault class makes accuracy alone misleading; turbine-level rates support prioritised investigation.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4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"/>
            <a:ext cx="9144000" cy="41148"/>
          </a:xfrm>
          <a:prstGeom prst="rect">
            <a:avLst/>
          </a:prstGeom>
          <a:solidFill>
            <a:srgbClr val="009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10896" y="123444"/>
            <a:ext cx="8549640" cy="356616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Aptos"/>
              </a:rPr>
              <a:t>EDA Results — Sensor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4782312"/>
            <a:ext cx="8503920" cy="8890"/>
          </a:xfrm>
          <a:prstGeom prst="rect">
            <a:avLst/>
          </a:prstGeom>
          <a:solidFill>
            <a:srgbClr val="C8D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4828032"/>
            <a:ext cx="2560320" cy="164592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617487"/>
                </a:solidFill>
                <a:latin typeface="Aptos"/>
              </a:rPr>
              <a:t>MAIN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4828032"/>
            <a:ext cx="2377440" cy="164592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17487"/>
                </a:solidFill>
                <a:latin typeface="Aptos"/>
              </a:rPr>
              <a:t>Wind Turbine Failure Detection  •  06</a:t>
            </a:r>
          </a:p>
        </p:txBody>
      </p:sp>
      <p:pic>
        <p:nvPicPr>
          <p:cNvPr id="8" name="Picture 7" descr="eda_signa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00434"/>
            <a:ext cx="5596128" cy="2957514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172200" y="1005840"/>
            <a:ext cx="2432304" cy="3374136"/>
          </a:xfrm>
          <a:prstGeom prst="roundRect">
            <a:avLst>
              <a:gd name="adj" fmla="val 12000"/>
            </a:avLst>
          </a:prstGeom>
          <a:solidFill>
            <a:srgbClr val="EA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234440"/>
            <a:ext cx="1920240" cy="246888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D9C"/>
                </a:solidFill>
                <a:latin typeface="Aptos"/>
              </a:rPr>
              <a:t>KEY OBSERVATIONS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1627632"/>
            <a:ext cx="1920240" cy="960120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5394D"/>
                </a:solidFill>
                <a:latin typeface="Aptos"/>
              </a:rPr>
              <a:t>Vibration, gearbox temperature and oil particles are visibly elevated in fault-state records.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770632"/>
            <a:ext cx="1920240" cy="987552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5394D"/>
                </a:solidFill>
                <a:latin typeface="Aptos"/>
              </a:rPr>
              <a:t>Wind speed alone provides weaker separation, supporting multi-signal evaluation.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4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"/>
            <a:ext cx="9144000" cy="41148"/>
          </a:xfrm>
          <a:prstGeom prst="rect">
            <a:avLst/>
          </a:prstGeom>
          <a:solidFill>
            <a:srgbClr val="009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10896" y="123444"/>
            <a:ext cx="8549640" cy="356616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Aptos"/>
              </a:rPr>
              <a:t>Data Preprocessing and Leakage Prevention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4782312"/>
            <a:ext cx="8503920" cy="8890"/>
          </a:xfrm>
          <a:prstGeom prst="rect">
            <a:avLst/>
          </a:prstGeom>
          <a:solidFill>
            <a:srgbClr val="C8D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4828032"/>
            <a:ext cx="2560320" cy="164592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617487"/>
                </a:solidFill>
                <a:latin typeface="Aptos"/>
              </a:rPr>
              <a:t>MAIN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4828032"/>
            <a:ext cx="2377440" cy="164592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17487"/>
                </a:solidFill>
                <a:latin typeface="Aptos"/>
              </a:rPr>
              <a:t>Wind Turbine Failure Detection  •  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941832"/>
            <a:ext cx="3968496" cy="1389888"/>
          </a:xfrm>
          <a:prstGeom prst="roundRect">
            <a:avLst>
              <a:gd name="adj" fmla="val 12000"/>
            </a:avLst>
          </a:prstGeom>
          <a:solidFill>
            <a:srgbClr val="F0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" y="1078992"/>
            <a:ext cx="3611880" cy="246888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D9C"/>
                </a:solidFill>
                <a:latin typeface="Aptos"/>
              </a:rPr>
              <a:t>DATA QUALITY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" y="1380744"/>
            <a:ext cx="3602736" cy="804672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5394D"/>
                </a:solidFill>
                <a:latin typeface="Aptos"/>
              </a:rPr>
              <a:t>0 duplicate rows; missing gearbox-oil (645), generator-bearing (690), oil-pressure (636).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36007" y="941832"/>
            <a:ext cx="3968496" cy="1389888"/>
          </a:xfrm>
          <a:prstGeom prst="roundRect">
            <a:avLst>
              <a:gd name="adj" fmla="val 12000"/>
            </a:avLst>
          </a:prstGeom>
          <a:solidFill>
            <a:srgbClr val="F0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82312" y="1078992"/>
            <a:ext cx="3611880" cy="246888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D9C"/>
                </a:solidFill>
                <a:latin typeface="Aptos"/>
              </a:rPr>
              <a:t>TREATMENT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82312" y="1380744"/>
            <a:ext cx="3602736" cy="804672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5394D"/>
                </a:solidFill>
                <a:latin typeface="Aptos"/>
              </a:rPr>
              <a:t>Training-median imputation; ANN StandardScaler fit using training rows only.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542032"/>
            <a:ext cx="3968496" cy="1389888"/>
          </a:xfrm>
          <a:prstGeom prst="roundRect">
            <a:avLst>
              <a:gd name="adj" fmla="val 12000"/>
            </a:avLst>
          </a:prstGeom>
          <a:solidFill>
            <a:srgbClr val="F0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" y="2679192"/>
            <a:ext cx="3611880" cy="246888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D9C"/>
                </a:solidFill>
                <a:latin typeface="Aptos"/>
              </a:rPr>
              <a:t>FEATURE ENGINEERING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" y="2980944"/>
            <a:ext cx="3602736" cy="804672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5394D"/>
                </a:solidFill>
                <a:latin typeface="Aptos"/>
              </a:rPr>
              <a:t>Time cycles, power utilisation and temperature-rise variables.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636007" y="2542032"/>
            <a:ext cx="3968496" cy="1389888"/>
          </a:xfrm>
          <a:prstGeom prst="roundRect">
            <a:avLst>
              <a:gd name="adj" fmla="val 12000"/>
            </a:avLst>
          </a:prstGeom>
          <a:solidFill>
            <a:srgbClr val="F0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82312" y="2679192"/>
            <a:ext cx="3611880" cy="246888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D9C"/>
                </a:solidFill>
                <a:latin typeface="Aptos"/>
              </a:rPr>
              <a:t>EVALUATION DESIGN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82312" y="2980944"/>
            <a:ext cx="3602736" cy="804672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5394D"/>
                </a:solidFill>
                <a:latin typeface="Aptos"/>
              </a:rPr>
              <a:t>Timestamp-grouped chronological 70% / 15% / 15%; test reserved until final evaluation.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4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"/>
            <a:ext cx="9144000" cy="41148"/>
          </a:xfrm>
          <a:prstGeom prst="rect">
            <a:avLst/>
          </a:prstGeom>
          <a:solidFill>
            <a:srgbClr val="009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10896" y="123444"/>
            <a:ext cx="8549640" cy="356616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Aptos"/>
              </a:rPr>
              <a:t>Model Performance Summary and Final Selection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4782312"/>
            <a:ext cx="8503920" cy="8890"/>
          </a:xfrm>
          <a:prstGeom prst="rect">
            <a:avLst/>
          </a:prstGeom>
          <a:solidFill>
            <a:srgbClr val="C8D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4828032"/>
            <a:ext cx="2560320" cy="164592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617487"/>
                </a:solidFill>
                <a:latin typeface="Aptos"/>
              </a:rPr>
              <a:t>MAIN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4828032"/>
            <a:ext cx="2377440" cy="164592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17487"/>
                </a:solidFill>
                <a:latin typeface="Aptos"/>
              </a:rPr>
              <a:t>Wind Turbine Failure Detection  •  08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94360" y="1078992"/>
          <a:ext cx="7955280" cy="13898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057400"/>
                <a:gridCol w="1783080"/>
                <a:gridCol w="2011680"/>
              </a:tblGrid>
              <a:tr h="463296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Aptos"/>
                        </a:rPr>
                        <a:t>Tuned model</a:t>
                      </a:r>
                    </a:p>
                  </a:txBody>
                  <a:tcPr marL="91440" marR="45720" marT="54864" marB="36576" anchor="ctr">
                    <a:solidFill>
                      <a:srgbClr val="143A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ptos"/>
                        </a:rPr>
                        <a:t>Validation recall</a:t>
                      </a:r>
                    </a:p>
                  </a:txBody>
                  <a:tcPr marL="91440" marR="45720" marT="54864" marB="36576" anchor="ctr">
                    <a:solidFill>
                      <a:srgbClr val="143A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ptos"/>
                        </a:rPr>
                        <a:t>F1</a:t>
                      </a:r>
                    </a:p>
                  </a:txBody>
                  <a:tcPr marL="91440" marR="45720" marT="54864" marB="36576" anchor="ctr">
                    <a:solidFill>
                      <a:srgbClr val="143A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ptos"/>
                        </a:rPr>
                        <a:t>Precision</a:t>
                      </a:r>
                    </a:p>
                  </a:txBody>
                  <a:tcPr marL="91440" marR="45720" marT="54864" marB="36576" anchor="ctr">
                    <a:solidFill>
                      <a:srgbClr val="143A55"/>
                    </a:solidFill>
                  </a:tcPr>
                </a:tc>
              </a:tr>
              <a:tr h="46329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5394D"/>
                          </a:solidFill>
                          <a:latin typeface="Aptos"/>
                        </a:rPr>
                        <a:t>ANN (selected)</a:t>
                      </a:r>
                    </a:p>
                  </a:txBody>
                  <a:tcPr marL="91440" marR="45720" marT="54864" marB="36576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5394D"/>
                          </a:solidFill>
                          <a:latin typeface="Aptos"/>
                        </a:rPr>
                        <a:t>92.49%</a:t>
                      </a:r>
                    </a:p>
                  </a:txBody>
                  <a:tcPr marL="91440" marR="45720" marT="54864" marB="36576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5394D"/>
                          </a:solidFill>
                          <a:latin typeface="Aptos"/>
                        </a:rPr>
                        <a:t>53.54%</a:t>
                      </a:r>
                    </a:p>
                  </a:txBody>
                  <a:tcPr marL="91440" marR="45720" marT="54864" marB="36576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5394D"/>
                          </a:solidFill>
                          <a:latin typeface="Aptos"/>
                        </a:rPr>
                        <a:t>37.67%</a:t>
                      </a:r>
                    </a:p>
                  </a:txBody>
                  <a:tcPr marL="91440" marR="45720" marT="54864" marB="36576" anchor="ctr">
                    <a:solidFill>
                      <a:srgbClr val="F0F4F7"/>
                    </a:solidFill>
                  </a:tcPr>
                </a:tc>
              </a:tr>
              <a:tr h="46329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5394D"/>
                          </a:solidFill>
                          <a:latin typeface="Aptos"/>
                        </a:rPr>
                        <a:t>XGBoost</a:t>
                      </a:r>
                    </a:p>
                  </a:txBody>
                  <a:tcPr marL="91440" marR="45720" marT="54864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5394D"/>
                          </a:solidFill>
                          <a:latin typeface="Aptos"/>
                        </a:rPr>
                        <a:t>69.10%</a:t>
                      </a:r>
                    </a:p>
                  </a:txBody>
                  <a:tcPr marL="91440" marR="45720" marT="54864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5394D"/>
                          </a:solidFill>
                          <a:latin typeface="Aptos"/>
                        </a:rPr>
                        <a:t>69.34%</a:t>
                      </a:r>
                    </a:p>
                  </a:txBody>
                  <a:tcPr marL="91440" marR="45720" marT="54864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5394D"/>
                          </a:solidFill>
                          <a:latin typeface="Aptos"/>
                        </a:rPr>
                        <a:t>69.57%</a:t>
                      </a:r>
                    </a:p>
                  </a:txBody>
                  <a:tcPr marL="91440" marR="45720" marT="54864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94360" y="2724912"/>
            <a:ext cx="7955279" cy="896112"/>
          </a:xfrm>
          <a:prstGeom prst="roundRect">
            <a:avLst>
              <a:gd name="adj" fmla="val 12000"/>
            </a:avLst>
          </a:prstGeom>
          <a:solidFill>
            <a:srgbClr val="EA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2834640"/>
            <a:ext cx="1828800" cy="210312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D9C"/>
                </a:solidFill>
                <a:latin typeface="Aptos"/>
              </a:rPr>
              <a:t>Selection rule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3127248"/>
            <a:ext cx="7452360" cy="310896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43A55"/>
                </a:solidFill>
                <a:latin typeface="Aptos"/>
              </a:rPr>
              <a:t>Maximise validation recall; F1 and precision are secondary tie-breakers.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877056"/>
            <a:ext cx="7955279" cy="640080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5394D"/>
                </a:solidFill>
                <a:latin typeface="Aptos"/>
              </a:rPr>
              <a:t>ANN catches more recorded fault states. XGBoost offers better precision and F1, so the false-alert tradeoff must be managed.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4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"/>
            <a:ext cx="9144000" cy="41148"/>
          </a:xfrm>
          <a:prstGeom prst="rect">
            <a:avLst/>
          </a:prstGeom>
          <a:solidFill>
            <a:srgbClr val="009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10896" y="123444"/>
            <a:ext cx="8549640" cy="356616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Aptos"/>
              </a:rPr>
              <a:t>Actionable Business Recommendations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4782312"/>
            <a:ext cx="8503920" cy="8890"/>
          </a:xfrm>
          <a:prstGeom prst="rect">
            <a:avLst/>
          </a:prstGeom>
          <a:solidFill>
            <a:srgbClr val="C8D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4828032"/>
            <a:ext cx="2560320" cy="164592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617487"/>
                </a:solidFill>
                <a:latin typeface="Aptos"/>
              </a:rPr>
              <a:t>MAIN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4828032"/>
            <a:ext cx="2377440" cy="164592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17487"/>
                </a:solidFill>
                <a:latin typeface="Aptos"/>
              </a:rPr>
              <a:t>Wind Turbine Failure Detection  •  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941832"/>
            <a:ext cx="3959352" cy="1444752"/>
          </a:xfrm>
          <a:prstGeom prst="roundRect">
            <a:avLst>
              <a:gd name="adj" fmla="val 12000"/>
            </a:avLst>
          </a:prstGeom>
          <a:solidFill>
            <a:srgbClr val="EA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" y="1106424"/>
            <a:ext cx="3611880" cy="246888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D9C"/>
                </a:solidFill>
                <a:latin typeface="Aptos"/>
              </a:rPr>
              <a:t>01  Triage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" y="1426464"/>
            <a:ext cx="3639312" cy="768096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5394D"/>
                </a:solidFill>
                <a:latin typeface="Aptos"/>
              </a:rPr>
              <a:t>Review persistent model alerts and corroborating sensor signals remotely.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36007" y="941832"/>
            <a:ext cx="3959352" cy="1444752"/>
          </a:xfrm>
          <a:prstGeom prst="roundRect">
            <a:avLst>
              <a:gd name="adj" fmla="val 12000"/>
            </a:avLst>
          </a:prstGeom>
          <a:solidFill>
            <a:srgbClr val="F0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82312" y="1106424"/>
            <a:ext cx="3611880" cy="246888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D9C"/>
                </a:solidFill>
                <a:latin typeface="Aptos"/>
              </a:rPr>
              <a:t>02  Dispatch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82312" y="1426464"/>
            <a:ext cx="3639312" cy="768096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5394D"/>
                </a:solidFill>
                <a:latin typeface="Aptos"/>
              </a:rPr>
              <a:t>Prioritise technician inspections when risk persists across successive intervals.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587752"/>
            <a:ext cx="3959352" cy="1444752"/>
          </a:xfrm>
          <a:prstGeom prst="roundRect">
            <a:avLst>
              <a:gd name="adj" fmla="val 12000"/>
            </a:avLst>
          </a:prstGeom>
          <a:solidFill>
            <a:srgbClr val="F0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" y="2752344"/>
            <a:ext cx="3611880" cy="246888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D9C"/>
                </a:solidFill>
                <a:latin typeface="Aptos"/>
              </a:rPr>
              <a:t>03  Learn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" y="3072384"/>
            <a:ext cx="3639312" cy="768096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5394D"/>
                </a:solidFill>
                <a:latin typeface="Aptos"/>
              </a:rPr>
              <a:t>Link alerts to work orders; track false alarms, missed faults, and operational workload.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636007" y="2587752"/>
            <a:ext cx="3959352" cy="1444752"/>
          </a:xfrm>
          <a:prstGeom prst="roundRect">
            <a:avLst>
              <a:gd name="adj" fmla="val 12000"/>
            </a:avLst>
          </a:prstGeom>
          <a:solidFill>
            <a:srgbClr val="F0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82312" y="2752344"/>
            <a:ext cx="3611880" cy="246888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D9C"/>
                </a:solidFill>
                <a:latin typeface="Aptos"/>
              </a:rPr>
              <a:t>04  Validate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82312" y="3072384"/>
            <a:ext cx="3639312" cy="768096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5394D"/>
                </a:solidFill>
                <a:latin typeface="Aptos"/>
              </a:rPr>
              <a:t>Run prospective field validation before promising lead time or cost savings.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4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"/>
            <a:ext cx="9144000" cy="41148"/>
          </a:xfrm>
          <a:prstGeom prst="rect">
            <a:avLst/>
          </a:prstGeom>
          <a:solidFill>
            <a:srgbClr val="009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10896" y="123444"/>
            <a:ext cx="8549640" cy="356616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Aptos"/>
              </a:rPr>
              <a:t>APPENDIX — Data Background and Contents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4782312"/>
            <a:ext cx="8503920" cy="8890"/>
          </a:xfrm>
          <a:prstGeom prst="rect">
            <a:avLst/>
          </a:prstGeom>
          <a:solidFill>
            <a:srgbClr val="009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4828032"/>
            <a:ext cx="2560320" cy="164592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617487"/>
                </a:solidFill>
                <a:latin typeface="Aptos"/>
              </a:rPr>
              <a:t>APPENDIX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4828032"/>
            <a:ext cx="2377440" cy="164592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17487"/>
                </a:solidFill>
                <a:latin typeface="Aptos"/>
              </a:rPr>
              <a:t>Wind Turbine Failure Detection  • 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914400"/>
            <a:ext cx="4572000" cy="365760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43A55"/>
                </a:solidFill>
                <a:latin typeface="Aptos"/>
              </a:rPr>
              <a:t>SCADA panel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380744"/>
            <a:ext cx="8046720" cy="457200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5394D"/>
                </a:solidFill>
                <a:latin typeface="Aptos"/>
              </a:rPr>
              <a:t>8,784 timestamp groups, recorded at 10-minute intervals across 15 turbines.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2011680"/>
            <a:ext cx="3913632" cy="914400"/>
          </a:xfrm>
          <a:prstGeom prst="roundRect">
            <a:avLst>
              <a:gd name="adj" fmla="val 12000"/>
            </a:avLst>
          </a:prstGeom>
          <a:solidFill>
            <a:srgbClr val="F0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2093976"/>
            <a:ext cx="3474720" cy="246888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D9C"/>
                </a:solidFill>
                <a:latin typeface="Aptos"/>
              </a:rPr>
              <a:t>Environment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2404872"/>
            <a:ext cx="3657600" cy="320040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5394D"/>
                </a:solidFill>
                <a:latin typeface="Aptos"/>
              </a:rPr>
              <a:t>Wind, ambient conditions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27448" y="2011680"/>
            <a:ext cx="3913632" cy="914400"/>
          </a:xfrm>
          <a:prstGeom prst="roundRect">
            <a:avLst>
              <a:gd name="adj" fmla="val 12000"/>
            </a:avLst>
          </a:prstGeom>
          <a:solidFill>
            <a:srgbClr val="F0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46320" y="2093976"/>
            <a:ext cx="3474720" cy="246888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D9C"/>
                </a:solidFill>
                <a:latin typeface="Aptos"/>
              </a:rPr>
              <a:t>Operation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2404872"/>
            <a:ext cx="3657600" cy="320040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5394D"/>
                </a:solidFill>
                <a:latin typeface="Aptos"/>
              </a:rPr>
              <a:t>Power and rotational speeds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3108960"/>
            <a:ext cx="3913632" cy="914400"/>
          </a:xfrm>
          <a:prstGeom prst="roundRect">
            <a:avLst>
              <a:gd name="adj" fmla="val 12000"/>
            </a:avLst>
          </a:prstGeom>
          <a:solidFill>
            <a:srgbClr val="F0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2" y="3191256"/>
            <a:ext cx="3474720" cy="246888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D9C"/>
                </a:solidFill>
                <a:latin typeface="Aptos"/>
              </a:rPr>
              <a:t>Condition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3502152"/>
            <a:ext cx="3657600" cy="320040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5394D"/>
                </a:solidFill>
                <a:latin typeface="Aptos"/>
              </a:rPr>
              <a:t>Bearing heat, vibration, oil particles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27448" y="3108960"/>
            <a:ext cx="3913632" cy="914400"/>
          </a:xfrm>
          <a:prstGeom prst="roundRect">
            <a:avLst>
              <a:gd name="adj" fmla="val 12000"/>
            </a:avLst>
          </a:prstGeom>
          <a:solidFill>
            <a:srgbClr val="F0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46320" y="3191256"/>
            <a:ext cx="3474720" cy="246888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D9C"/>
                </a:solidFill>
                <a:latin typeface="Aptos"/>
              </a:rPr>
              <a:t>Asset history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46320" y="3502152"/>
            <a:ext cx="3657600" cy="320040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5394D"/>
                </a:solidFill>
                <a:latin typeface="Aptos"/>
              </a:rPr>
              <a:t>Hours, load cycles and maintenance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" y="4370832"/>
            <a:ext cx="7955279" cy="246888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9D9C"/>
                </a:solidFill>
                <a:latin typeface="Aptos"/>
              </a:rPr>
              <a:t>Target: failure = 1 denotes a recorded fault condition, not a future failure horizon.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4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"/>
            <a:ext cx="9144000" cy="41148"/>
          </a:xfrm>
          <a:prstGeom prst="rect">
            <a:avLst/>
          </a:prstGeom>
          <a:solidFill>
            <a:srgbClr val="009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10896" y="123444"/>
            <a:ext cx="8549640" cy="356616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Aptos"/>
              </a:rPr>
              <a:t>Model Building — Five Baseline Classifiers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4782312"/>
            <a:ext cx="8503920" cy="8890"/>
          </a:xfrm>
          <a:prstGeom prst="rect">
            <a:avLst/>
          </a:prstGeom>
          <a:solidFill>
            <a:srgbClr val="009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4828032"/>
            <a:ext cx="2560320" cy="164592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617487"/>
                </a:solidFill>
                <a:latin typeface="Aptos"/>
              </a:rPr>
              <a:t>APPENDIX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4828032"/>
            <a:ext cx="2377440" cy="164592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17487"/>
                </a:solidFill>
                <a:latin typeface="Aptos"/>
              </a:rPr>
              <a:t>Wind Turbine Failure Detection  •  11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75488" y="996696"/>
          <a:ext cx="5074920" cy="2907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2768"/>
                <a:gridCol w="877824"/>
                <a:gridCol w="886968"/>
                <a:gridCol w="896112"/>
                <a:gridCol w="841248"/>
              </a:tblGrid>
              <a:tr h="484632">
                <a:tc>
                  <a:txBody>
                    <a:bodyPr/>
                    <a:lstStyle/>
                    <a:p>
                      <a:pPr algn="l"/>
                      <a:r>
                        <a:rPr sz="890" b="1">
                          <a:solidFill>
                            <a:srgbClr val="FFFFFF"/>
                          </a:solidFill>
                          <a:latin typeface="Aptos"/>
                        </a:rPr>
                        <a:t>Model</a:t>
                      </a:r>
                    </a:p>
                  </a:txBody>
                  <a:tcPr marL="91440" marR="45720" marT="54864" marB="36576" anchor="ctr">
                    <a:solidFill>
                      <a:srgbClr val="143A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90" b="1">
                          <a:solidFill>
                            <a:srgbClr val="FFFFFF"/>
                          </a:solidFill>
                          <a:latin typeface="Aptos"/>
                        </a:rPr>
                        <a:t>Accuracy</a:t>
                      </a:r>
                    </a:p>
                  </a:txBody>
                  <a:tcPr marL="91440" marR="45720" marT="54864" marB="36576" anchor="ctr">
                    <a:solidFill>
                      <a:srgbClr val="143A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90" b="1">
                          <a:solidFill>
                            <a:srgbClr val="FFFFFF"/>
                          </a:solidFill>
                          <a:latin typeface="Aptos"/>
                        </a:rPr>
                        <a:t>Precision</a:t>
                      </a:r>
                    </a:p>
                  </a:txBody>
                  <a:tcPr marL="91440" marR="45720" marT="54864" marB="36576" anchor="ctr">
                    <a:solidFill>
                      <a:srgbClr val="143A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90" b="1">
                          <a:solidFill>
                            <a:srgbClr val="FFFFFF"/>
                          </a:solidFill>
                          <a:latin typeface="Aptos"/>
                        </a:rPr>
                        <a:t>Recall</a:t>
                      </a:r>
                    </a:p>
                  </a:txBody>
                  <a:tcPr marL="91440" marR="45720" marT="54864" marB="36576" anchor="ctr">
                    <a:solidFill>
                      <a:srgbClr val="143A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90" b="1">
                          <a:solidFill>
                            <a:srgbClr val="FFFFFF"/>
                          </a:solidFill>
                          <a:latin typeface="Aptos"/>
                        </a:rPr>
                        <a:t>F1</a:t>
                      </a:r>
                    </a:p>
                  </a:txBody>
                  <a:tcPr marL="91440" marR="45720" marT="54864" marB="36576" anchor="ctr">
                    <a:solidFill>
                      <a:srgbClr val="143A55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/>
                      <a:r>
                        <a:rPr sz="940" b="0">
                          <a:solidFill>
                            <a:srgbClr val="25394D"/>
                          </a:solidFill>
                          <a:latin typeface="Aptos"/>
                        </a:rPr>
                        <a:t>Decision Tree</a:t>
                      </a:r>
                    </a:p>
                  </a:txBody>
                  <a:tcPr marL="91440" marR="45720" marT="54864" marB="36576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40" b="0">
                          <a:solidFill>
                            <a:srgbClr val="25394D"/>
                          </a:solidFill>
                          <a:latin typeface="Aptos"/>
                        </a:rPr>
                        <a:t>90.70%</a:t>
                      </a:r>
                    </a:p>
                  </a:txBody>
                  <a:tcPr marL="91440" marR="45720" marT="54864" marB="36576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40" b="0">
                          <a:solidFill>
                            <a:srgbClr val="25394D"/>
                          </a:solidFill>
                          <a:latin typeface="Aptos"/>
                        </a:rPr>
                        <a:t>27.74%</a:t>
                      </a:r>
                    </a:p>
                  </a:txBody>
                  <a:tcPr marL="91440" marR="45720" marT="54864" marB="36576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40" b="0">
                          <a:solidFill>
                            <a:srgbClr val="25394D"/>
                          </a:solidFill>
                          <a:latin typeface="Aptos"/>
                        </a:rPr>
                        <a:t>47.93%</a:t>
                      </a:r>
                    </a:p>
                  </a:txBody>
                  <a:tcPr marL="91440" marR="45720" marT="54864" marB="36576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40" b="0">
                          <a:solidFill>
                            <a:srgbClr val="25394D"/>
                          </a:solidFill>
                          <a:latin typeface="Aptos"/>
                        </a:rPr>
                        <a:t>35.14%</a:t>
                      </a:r>
                    </a:p>
                  </a:txBody>
                  <a:tcPr marL="91440" marR="45720" marT="54864" marB="36576" anchor="ctr">
                    <a:solidFill>
                      <a:srgbClr val="F0F4F7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/>
                      <a:r>
                        <a:rPr sz="940" b="0">
                          <a:solidFill>
                            <a:srgbClr val="25394D"/>
                          </a:solidFill>
                          <a:latin typeface="Aptos"/>
                        </a:rPr>
                        <a:t>Random Forest</a:t>
                      </a:r>
                    </a:p>
                  </a:txBody>
                  <a:tcPr marL="91440" marR="45720" marT="54864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40" b="0">
                          <a:solidFill>
                            <a:srgbClr val="25394D"/>
                          </a:solidFill>
                          <a:latin typeface="Aptos"/>
                        </a:rPr>
                        <a:t>95.35%</a:t>
                      </a:r>
                    </a:p>
                  </a:txBody>
                  <a:tcPr marL="91440" marR="45720" marT="54864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40" b="0">
                          <a:solidFill>
                            <a:srgbClr val="25394D"/>
                          </a:solidFill>
                          <a:latin typeface="Aptos"/>
                        </a:rPr>
                        <a:t>82.87%</a:t>
                      </a:r>
                    </a:p>
                  </a:txBody>
                  <a:tcPr marL="91440" marR="45720" marT="54864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40" b="0">
                          <a:solidFill>
                            <a:srgbClr val="25394D"/>
                          </a:solidFill>
                          <a:latin typeface="Aptos"/>
                        </a:rPr>
                        <a:t>14.44%</a:t>
                      </a:r>
                    </a:p>
                  </a:txBody>
                  <a:tcPr marL="91440" marR="45720" marT="54864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40" b="0">
                          <a:solidFill>
                            <a:srgbClr val="25394D"/>
                          </a:solidFill>
                          <a:latin typeface="Aptos"/>
                        </a:rPr>
                        <a:t>24.59%</a:t>
                      </a:r>
                    </a:p>
                  </a:txBody>
                  <a:tcPr marL="91440" marR="45720" marT="54864" marB="36576" anchor="ctr"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/>
                      <a:r>
                        <a:rPr sz="940" b="0">
                          <a:solidFill>
                            <a:srgbClr val="25394D"/>
                          </a:solidFill>
                          <a:latin typeface="Aptos"/>
                        </a:rPr>
                        <a:t>Gradient Boosting</a:t>
                      </a:r>
                    </a:p>
                  </a:txBody>
                  <a:tcPr marL="91440" marR="45720" marT="54864" marB="36576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40" b="0">
                          <a:solidFill>
                            <a:srgbClr val="25394D"/>
                          </a:solidFill>
                          <a:latin typeface="Aptos"/>
                        </a:rPr>
                        <a:t>94.54%</a:t>
                      </a:r>
                    </a:p>
                  </a:txBody>
                  <a:tcPr marL="91440" marR="45720" marT="54864" marB="36576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40" b="0">
                          <a:solidFill>
                            <a:srgbClr val="25394D"/>
                          </a:solidFill>
                          <a:latin typeface="Aptos"/>
                        </a:rPr>
                        <a:t>46.96%</a:t>
                      </a:r>
                    </a:p>
                  </a:txBody>
                  <a:tcPr marL="91440" marR="45720" marT="54864" marB="36576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40" b="0">
                          <a:solidFill>
                            <a:srgbClr val="25394D"/>
                          </a:solidFill>
                          <a:latin typeface="Aptos"/>
                        </a:rPr>
                        <a:t>29.74%</a:t>
                      </a:r>
                    </a:p>
                  </a:txBody>
                  <a:tcPr marL="91440" marR="45720" marT="54864" marB="36576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40" b="0">
                          <a:solidFill>
                            <a:srgbClr val="25394D"/>
                          </a:solidFill>
                          <a:latin typeface="Aptos"/>
                        </a:rPr>
                        <a:t>36.42%</a:t>
                      </a:r>
                    </a:p>
                  </a:txBody>
                  <a:tcPr marL="91440" marR="45720" marT="54864" marB="36576" anchor="ctr">
                    <a:solidFill>
                      <a:srgbClr val="F0F4F7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/>
                      <a:r>
                        <a:rPr sz="940" b="0">
                          <a:solidFill>
                            <a:srgbClr val="25394D"/>
                          </a:solidFill>
                          <a:latin typeface="Aptos"/>
                        </a:rPr>
                        <a:t>XGBoost</a:t>
                      </a:r>
                    </a:p>
                  </a:txBody>
                  <a:tcPr marL="91440" marR="45720" marT="54864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40" b="0">
                          <a:solidFill>
                            <a:srgbClr val="25394D"/>
                          </a:solidFill>
                          <a:latin typeface="Aptos"/>
                        </a:rPr>
                        <a:t>96.64%</a:t>
                      </a:r>
                    </a:p>
                  </a:txBody>
                  <a:tcPr marL="91440" marR="45720" marT="54864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40" b="0">
                          <a:solidFill>
                            <a:srgbClr val="25394D"/>
                          </a:solidFill>
                          <a:latin typeface="Aptos"/>
                        </a:rPr>
                        <a:t>71.01%</a:t>
                      </a:r>
                    </a:p>
                  </a:txBody>
                  <a:tcPr marL="91440" marR="45720" marT="54864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40" b="0">
                          <a:solidFill>
                            <a:srgbClr val="25394D"/>
                          </a:solidFill>
                          <a:latin typeface="Aptos"/>
                        </a:rPr>
                        <a:t>60.83%</a:t>
                      </a:r>
                    </a:p>
                  </a:txBody>
                  <a:tcPr marL="91440" marR="45720" marT="54864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40" b="0">
                          <a:solidFill>
                            <a:srgbClr val="25394D"/>
                          </a:solidFill>
                          <a:latin typeface="Aptos"/>
                        </a:rPr>
                        <a:t>65.53%</a:t>
                      </a:r>
                    </a:p>
                  </a:txBody>
                  <a:tcPr marL="91440" marR="45720" marT="54864" marB="36576" anchor="ctr"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/>
                      <a:r>
                        <a:rPr sz="940" b="0">
                          <a:solidFill>
                            <a:srgbClr val="25394D"/>
                          </a:solidFill>
                          <a:latin typeface="Aptos"/>
                        </a:rPr>
                        <a:t>ANN</a:t>
                      </a:r>
                    </a:p>
                  </a:txBody>
                  <a:tcPr marL="91440" marR="45720" marT="54864" marB="36576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40" b="0">
                          <a:solidFill>
                            <a:srgbClr val="25394D"/>
                          </a:solidFill>
                          <a:latin typeface="Aptos"/>
                        </a:rPr>
                        <a:t>94.79%</a:t>
                      </a:r>
                    </a:p>
                  </a:txBody>
                  <a:tcPr marL="91440" marR="45720" marT="54864" marB="36576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40" b="0">
                          <a:solidFill>
                            <a:srgbClr val="25394D"/>
                          </a:solidFill>
                          <a:latin typeface="Aptos"/>
                        </a:rPr>
                        <a:t>50.28%</a:t>
                      </a:r>
                    </a:p>
                  </a:txBody>
                  <a:tcPr marL="91440" marR="45720" marT="54864" marB="36576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40" b="0">
                          <a:solidFill>
                            <a:srgbClr val="25394D"/>
                          </a:solidFill>
                          <a:latin typeface="Aptos"/>
                        </a:rPr>
                        <a:t>68.05%</a:t>
                      </a:r>
                    </a:p>
                  </a:txBody>
                  <a:tcPr marL="91440" marR="45720" marT="54864" marB="36576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40" b="0">
                          <a:solidFill>
                            <a:srgbClr val="25394D"/>
                          </a:solidFill>
                          <a:latin typeface="Aptos"/>
                        </a:rPr>
                        <a:t>57.83%</a:t>
                      </a:r>
                    </a:p>
                  </a:txBody>
                  <a:tcPr marL="91440" marR="45720" marT="54864" marB="36576" anchor="ctr">
                    <a:solidFill>
                      <a:srgbClr val="F0F4F7"/>
                    </a:solidFill>
                  </a:tcPr>
                </a:tc>
              </a:tr>
            </a:tbl>
          </a:graphicData>
        </a:graphic>
      </p:graphicFrame>
      <p:pic>
        <p:nvPicPr>
          <p:cNvPr id="9" name="Picture 8" descr="baseline_rec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6128" y="1445862"/>
            <a:ext cx="3145536" cy="189973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94360" y="4142232"/>
            <a:ext cx="7909560" cy="320040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D9C"/>
                </a:solidFill>
                <a:latin typeface="Aptos"/>
              </a:rPr>
              <a:t>ANN and XGBoost have the highest baseline recall and were selected for tuning.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4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"/>
            <a:ext cx="9144000" cy="41148"/>
          </a:xfrm>
          <a:prstGeom prst="rect">
            <a:avLst/>
          </a:prstGeom>
          <a:solidFill>
            <a:srgbClr val="009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10896" y="123444"/>
            <a:ext cx="8549640" cy="356616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Aptos"/>
              </a:rPr>
              <a:t>Model Improvement — Hyperparameter Tuning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4782312"/>
            <a:ext cx="8503920" cy="8890"/>
          </a:xfrm>
          <a:prstGeom prst="rect">
            <a:avLst/>
          </a:prstGeom>
          <a:solidFill>
            <a:srgbClr val="009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4828032"/>
            <a:ext cx="2560320" cy="164592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617487"/>
                </a:solidFill>
                <a:latin typeface="Aptos"/>
              </a:rPr>
              <a:t>APPENDIX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4828032"/>
            <a:ext cx="2377440" cy="164592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17487"/>
                </a:solidFill>
                <a:latin typeface="Aptos"/>
              </a:rPr>
              <a:t>Wind Turbine Failure Detection  •  12</a:t>
            </a:r>
          </a:p>
        </p:txBody>
      </p:sp>
      <p:pic>
        <p:nvPicPr>
          <p:cNvPr id="8" name="Picture 7" descr="tuning_rec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89070"/>
            <a:ext cx="4636008" cy="2316235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303520" y="996696"/>
            <a:ext cx="3282696" cy="3355848"/>
          </a:xfrm>
          <a:prstGeom prst="roundRect">
            <a:avLst>
              <a:gd name="adj" fmla="val 12000"/>
            </a:avLst>
          </a:prstGeom>
          <a:solidFill>
            <a:srgbClr val="F0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0" y="1133856"/>
            <a:ext cx="2651760" cy="246888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D9C"/>
                </a:solidFill>
                <a:latin typeface="Aptos"/>
              </a:rPr>
              <a:t>XGBOOST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1417320"/>
            <a:ext cx="2743200" cy="768096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5394D"/>
                </a:solidFill>
                <a:latin typeface="Aptos"/>
              </a:rPr>
              <a:t>6 sampled configurations; 2 timestamp-grouped expanding folds; recall objective.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2286000"/>
            <a:ext cx="2788920" cy="539496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5394D"/>
                </a:solidFill>
                <a:latin typeface="Aptos"/>
              </a:rPr>
              <a:t>Best CV recall 48.45%; holdout validation recall 69.10%.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2953512"/>
            <a:ext cx="2651760" cy="246888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D9C"/>
                </a:solidFill>
                <a:latin typeface="Aptos"/>
              </a:rPr>
              <a:t>ANN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3236976"/>
            <a:ext cx="2779776" cy="758952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5394D"/>
                </a:solidFill>
                <a:latin typeface="Aptos"/>
              </a:rPr>
              <a:t>64/24 hidden units; BatchNorm, dropout 0.30/0.15, Adam, early stopping.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4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"/>
            <a:ext cx="9144000" cy="41148"/>
          </a:xfrm>
          <a:prstGeom prst="rect">
            <a:avLst/>
          </a:prstGeom>
          <a:solidFill>
            <a:srgbClr val="009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10896" y="123444"/>
            <a:ext cx="8549640" cy="356616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Aptos"/>
              </a:rPr>
              <a:t>Final Model Performance — Untouched Test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4782312"/>
            <a:ext cx="8503920" cy="8890"/>
          </a:xfrm>
          <a:prstGeom prst="rect">
            <a:avLst/>
          </a:prstGeom>
          <a:solidFill>
            <a:srgbClr val="009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4828032"/>
            <a:ext cx="2560320" cy="164592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617487"/>
                </a:solidFill>
                <a:latin typeface="Aptos"/>
              </a:rPr>
              <a:t>APPENDIX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4828032"/>
            <a:ext cx="2377440" cy="164592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17487"/>
                </a:solidFill>
                <a:latin typeface="Aptos"/>
              </a:rPr>
              <a:t>Wind Turbine Failure Detection  •  13</a:t>
            </a:r>
          </a:p>
        </p:txBody>
      </p:sp>
      <p:pic>
        <p:nvPicPr>
          <p:cNvPr id="8" name="Picture 7" descr="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9189" y="923544"/>
            <a:ext cx="3580421" cy="3547872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475488" y="987552"/>
            <a:ext cx="1920240" cy="1051560"/>
          </a:xfrm>
          <a:prstGeom prst="roundRect">
            <a:avLst>
              <a:gd name="adj" fmla="val 12000"/>
            </a:avLst>
          </a:prstGeom>
          <a:solidFill>
            <a:srgbClr val="F0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3504" y="1078992"/>
            <a:ext cx="1664208" cy="173736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17487"/>
                </a:solidFill>
                <a:latin typeface="Aptos"/>
              </a:rPr>
              <a:t>TEST RECALL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" y="1298448"/>
            <a:ext cx="1664208" cy="365760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43A55"/>
                </a:solidFill>
                <a:latin typeface="Aptos"/>
              </a:rPr>
              <a:t>86.40%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32888" y="987552"/>
            <a:ext cx="1920240" cy="1051560"/>
          </a:xfrm>
          <a:prstGeom prst="roundRect">
            <a:avLst>
              <a:gd name="adj" fmla="val 12000"/>
            </a:avLst>
          </a:prstGeom>
          <a:solidFill>
            <a:srgbClr val="F0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60904" y="1078992"/>
            <a:ext cx="1664208" cy="173736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17487"/>
                </a:solidFill>
                <a:latin typeface="Aptos"/>
              </a:rPr>
              <a:t>TEST PRECISION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60904" y="1298448"/>
            <a:ext cx="1664208" cy="365760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43A55"/>
                </a:solidFill>
                <a:latin typeface="Aptos"/>
              </a:rPr>
              <a:t>49.48%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5488" y="2194560"/>
            <a:ext cx="1920240" cy="1051560"/>
          </a:xfrm>
          <a:prstGeom prst="roundRect">
            <a:avLst>
              <a:gd name="adj" fmla="val 12000"/>
            </a:avLst>
          </a:prstGeom>
          <a:solidFill>
            <a:srgbClr val="F0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3504" y="2286000"/>
            <a:ext cx="1664208" cy="173736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17487"/>
                </a:solidFill>
                <a:latin typeface="Aptos"/>
              </a:rPr>
              <a:t>TEST ACCURACY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504" y="2505456"/>
            <a:ext cx="1664208" cy="365760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43A55"/>
                </a:solidFill>
                <a:latin typeface="Aptos"/>
              </a:rPr>
              <a:t>92.58%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532888" y="2194560"/>
            <a:ext cx="1920240" cy="1051560"/>
          </a:xfrm>
          <a:prstGeom prst="roundRect">
            <a:avLst>
              <a:gd name="adj" fmla="val 12000"/>
            </a:avLst>
          </a:prstGeom>
          <a:solidFill>
            <a:srgbClr val="F0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660904" y="2286000"/>
            <a:ext cx="1664208" cy="173736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17487"/>
                </a:solidFill>
                <a:latin typeface="Aptos"/>
              </a:rPr>
              <a:t>TEST F1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60904" y="2505456"/>
            <a:ext cx="1664208" cy="365760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43A55"/>
                </a:solidFill>
                <a:latin typeface="Aptos"/>
              </a:rPr>
              <a:t>62.93%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21207" y="3474720"/>
            <a:ext cx="3886200" cy="841248"/>
          </a:xfrm>
          <a:prstGeom prst="roundRect">
            <a:avLst>
              <a:gd name="adj" fmla="val 12000"/>
            </a:avLst>
          </a:prstGeom>
          <a:solidFill>
            <a:srgbClr val="EA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" y="3648456"/>
            <a:ext cx="3602736" cy="530352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40" b="1" i="0">
                <a:solidFill>
                  <a:srgbClr val="143A55"/>
                </a:solidFill>
                <a:latin typeface="Aptos"/>
              </a:rPr>
              <a:t>1,245 detected • 196 missed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40" b="1" i="0">
                <a:solidFill>
                  <a:srgbClr val="143A55"/>
                </a:solidFill>
                <a:latin typeface="Aptos"/>
              </a:rPr>
              <a:t>1,271 false alerts • 17,058 true normals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4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"/>
            <a:ext cx="9144000" cy="41148"/>
          </a:xfrm>
          <a:prstGeom prst="rect">
            <a:avLst/>
          </a:prstGeom>
          <a:solidFill>
            <a:srgbClr val="009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10896" y="123444"/>
            <a:ext cx="8549640" cy="356616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Aptos"/>
              </a:rPr>
              <a:t>Feature Interpretation and Limitations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4782312"/>
            <a:ext cx="8503920" cy="8890"/>
          </a:xfrm>
          <a:prstGeom prst="rect">
            <a:avLst/>
          </a:prstGeom>
          <a:solidFill>
            <a:srgbClr val="009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4828032"/>
            <a:ext cx="2560320" cy="164592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617487"/>
                </a:solidFill>
                <a:latin typeface="Aptos"/>
              </a:rPr>
              <a:t>APPENDIX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4828032"/>
            <a:ext cx="2377440" cy="164592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17487"/>
                </a:solidFill>
                <a:latin typeface="Aptos"/>
              </a:rPr>
              <a:t>Wind Turbine Failure Detection  •  14</a:t>
            </a:r>
          </a:p>
        </p:txBody>
      </p:sp>
      <p:pic>
        <p:nvPicPr>
          <p:cNvPr id="8" name="Picture 7" descr="permutation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1" y="923544"/>
            <a:ext cx="5779008" cy="36118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391656" y="1033271"/>
            <a:ext cx="2194560" cy="3273552"/>
          </a:xfrm>
          <a:prstGeom prst="roundRect">
            <a:avLst>
              <a:gd name="adj" fmla="val 12000"/>
            </a:avLst>
          </a:prstGeom>
          <a:solidFill>
            <a:srgbClr val="EA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47104" y="1234440"/>
            <a:ext cx="1828800" cy="246888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D9C"/>
                </a:solidFill>
                <a:latin typeface="Aptos"/>
              </a:rPr>
              <a:t>KEY DRIVERS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1572768"/>
            <a:ext cx="1874519" cy="1042415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25394D"/>
                </a:solidFill>
                <a:latin typeface="Aptos"/>
              </a:rPr>
              <a:t>Drivetrain vibration and oil particle count show the largest validation-recall impacts.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2752344"/>
            <a:ext cx="1874519" cy="1280160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25394D"/>
                </a:solidFill>
                <a:latin typeface="Aptos"/>
              </a:rPr>
              <a:t>Permutation importance measures association, not causation or a future-failure lead time.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4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"/>
            <a:ext cx="9144000" cy="41148"/>
          </a:xfrm>
          <a:prstGeom prst="rect">
            <a:avLst/>
          </a:prstGeom>
          <a:solidFill>
            <a:srgbClr val="009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10896" y="123444"/>
            <a:ext cx="8549640" cy="356616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Aptos"/>
              </a:rPr>
              <a:t>Timestamp-Grouped Split Verification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4782312"/>
            <a:ext cx="8503920" cy="8890"/>
          </a:xfrm>
          <a:prstGeom prst="rect">
            <a:avLst/>
          </a:prstGeom>
          <a:solidFill>
            <a:srgbClr val="009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4828032"/>
            <a:ext cx="2560320" cy="164592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617487"/>
                </a:solidFill>
                <a:latin typeface="Aptos"/>
              </a:rPr>
              <a:t>APPENDIX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4828032"/>
            <a:ext cx="2377440" cy="164592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17487"/>
                </a:solidFill>
                <a:latin typeface="Aptos"/>
              </a:rPr>
              <a:t>Wind Turbine Failure Detection  •  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987552"/>
            <a:ext cx="2633472" cy="1170432"/>
          </a:xfrm>
          <a:prstGeom prst="roundRect">
            <a:avLst>
              <a:gd name="adj" fmla="val 12000"/>
            </a:avLst>
          </a:prstGeom>
          <a:solidFill>
            <a:srgbClr val="F0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2376" y="1078992"/>
            <a:ext cx="2377439" cy="173736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17487"/>
                </a:solidFill>
                <a:latin typeface="Aptos"/>
              </a:rPr>
              <a:t>TRAIN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" y="1298448"/>
            <a:ext cx="2377439" cy="365760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43A55"/>
                </a:solidFill>
                <a:latin typeface="Aptos"/>
              </a:rPr>
              <a:t>92,220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" y="1719072"/>
            <a:ext cx="2377439" cy="237744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9" b="0" i="0">
                <a:solidFill>
                  <a:srgbClr val="617487"/>
                </a:solidFill>
                <a:latin typeface="Aptos"/>
              </a:rPr>
              <a:t>6,148 timestamps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47288" y="987552"/>
            <a:ext cx="2633472" cy="1170432"/>
          </a:xfrm>
          <a:prstGeom prst="roundRect">
            <a:avLst>
              <a:gd name="adj" fmla="val 12000"/>
            </a:avLst>
          </a:prstGeom>
          <a:solidFill>
            <a:srgbClr val="F0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75304" y="1078992"/>
            <a:ext cx="2377439" cy="173736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17487"/>
                </a:solidFill>
                <a:latin typeface="Aptos"/>
              </a:rPr>
              <a:t>VALIDATION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75304" y="1298448"/>
            <a:ext cx="2377439" cy="365760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43A55"/>
                </a:solidFill>
                <a:latin typeface="Aptos"/>
              </a:rPr>
              <a:t>19,770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75304" y="1719072"/>
            <a:ext cx="2377439" cy="237744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9" b="0" i="0">
                <a:solidFill>
                  <a:srgbClr val="617487"/>
                </a:solidFill>
                <a:latin typeface="Aptos"/>
              </a:rPr>
              <a:t>1,318 timestamps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0216" y="987552"/>
            <a:ext cx="2633472" cy="1170432"/>
          </a:xfrm>
          <a:prstGeom prst="roundRect">
            <a:avLst>
              <a:gd name="adj" fmla="val 12000"/>
            </a:avLst>
          </a:prstGeom>
          <a:solidFill>
            <a:srgbClr val="F0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28232" y="1078992"/>
            <a:ext cx="2377439" cy="173736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17487"/>
                </a:solidFill>
                <a:latin typeface="Aptos"/>
              </a:rPr>
              <a:t>TEST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8232" y="1298448"/>
            <a:ext cx="2377439" cy="365760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43A55"/>
                </a:solidFill>
                <a:latin typeface="Aptos"/>
              </a:rPr>
              <a:t>19,770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8232" y="1719072"/>
            <a:ext cx="2377439" cy="237744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9" b="0" i="0">
                <a:solidFill>
                  <a:srgbClr val="617487"/>
                </a:solidFill>
                <a:latin typeface="Aptos"/>
              </a:rPr>
              <a:t>1,318 timestamps</a:t>
            </a:r>
          </a:p>
        </p:txBody>
      </p:sp>
      <p:pic>
        <p:nvPicPr>
          <p:cNvPr id="20" name="Picture 19" descr="split_preval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581481"/>
            <a:ext cx="5029200" cy="1594453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5897880" y="2441448"/>
            <a:ext cx="2624328" cy="1600200"/>
          </a:xfrm>
          <a:prstGeom prst="roundRect">
            <a:avLst>
              <a:gd name="adj" fmla="val 12000"/>
            </a:avLst>
          </a:prstGeom>
          <a:solidFill>
            <a:srgbClr val="EA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62472" y="2569464"/>
            <a:ext cx="2240280" cy="246888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D9C"/>
                </a:solidFill>
                <a:latin typeface="Aptos"/>
              </a:rPr>
              <a:t>LEAKAGE CHECK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62472" y="2916936"/>
            <a:ext cx="2167128" cy="1024128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25394D"/>
                </a:solidFill>
                <a:latin typeface="Aptos"/>
              </a:rPr>
              <a:t>All 15 turbine records at a timestamp remain in the same partition. Failure prevalence changes over time.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4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"/>
            <a:ext cx="9144000" cy="41148"/>
          </a:xfrm>
          <a:prstGeom prst="rect">
            <a:avLst/>
          </a:prstGeom>
          <a:solidFill>
            <a:srgbClr val="009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10896" y="123444"/>
            <a:ext cx="8549640" cy="356616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Aptos"/>
              </a:rPr>
              <a:t>Operational Use Case and Next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4782312"/>
            <a:ext cx="8503920" cy="8890"/>
          </a:xfrm>
          <a:prstGeom prst="rect">
            <a:avLst/>
          </a:prstGeom>
          <a:solidFill>
            <a:srgbClr val="009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4828032"/>
            <a:ext cx="2560320" cy="164592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617487"/>
                </a:solidFill>
                <a:latin typeface="Aptos"/>
              </a:rPr>
              <a:t>APPENDIX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4828032"/>
            <a:ext cx="2377440" cy="164592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17487"/>
                </a:solidFill>
                <a:latin typeface="Aptos"/>
              </a:rPr>
              <a:t>Wind Turbine Failure Detection  •  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033271"/>
            <a:ext cx="2587752" cy="1536192"/>
          </a:xfrm>
          <a:prstGeom prst="roundRect">
            <a:avLst>
              <a:gd name="adj" fmla="val 12000"/>
            </a:avLst>
          </a:prstGeom>
          <a:solidFill>
            <a:srgbClr val="F0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197864"/>
            <a:ext cx="2203704" cy="246888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D9C"/>
                </a:solidFill>
                <a:latin typeface="Aptos"/>
              </a:rPr>
              <a:t>STAGE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1545336"/>
            <a:ext cx="2212848" cy="859536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5394D"/>
                </a:solidFill>
                <a:latin typeface="Aptos"/>
              </a:rPr>
              <a:t>Model flags current abnormal condition.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47288" y="1033271"/>
            <a:ext cx="2587752" cy="1536192"/>
          </a:xfrm>
          <a:prstGeom prst="roundRect">
            <a:avLst>
              <a:gd name="adj" fmla="val 12000"/>
            </a:avLst>
          </a:prstGeom>
          <a:solidFill>
            <a:srgbClr val="F0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02736" y="1197864"/>
            <a:ext cx="2203704" cy="246888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D9C"/>
                </a:solidFill>
                <a:latin typeface="Aptos"/>
              </a:rPr>
              <a:t>STAGE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02736" y="1545336"/>
            <a:ext cx="2212848" cy="859536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5394D"/>
                </a:solidFill>
                <a:latin typeface="Aptos"/>
              </a:rPr>
              <a:t>Analyst checks persistence and supporting sensors.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0216" y="1033271"/>
            <a:ext cx="2587752" cy="1536192"/>
          </a:xfrm>
          <a:prstGeom prst="roundRect">
            <a:avLst>
              <a:gd name="adj" fmla="val 12000"/>
            </a:avLst>
          </a:prstGeom>
          <a:solidFill>
            <a:srgbClr val="F0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55664" y="1197864"/>
            <a:ext cx="2203704" cy="246888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D9C"/>
                </a:solidFill>
                <a:latin typeface="Aptos"/>
              </a:rPr>
              <a:t>STAGE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55664" y="1545336"/>
            <a:ext cx="2212848" cy="859536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5394D"/>
                </a:solidFill>
                <a:latin typeface="Aptos"/>
              </a:rPr>
              <a:t>Maintenance team prioritises planned inspection.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2916936"/>
            <a:ext cx="7955279" cy="1271016"/>
          </a:xfrm>
          <a:prstGeom prst="roundRect">
            <a:avLst>
              <a:gd name="adj" fmla="val 12000"/>
            </a:avLst>
          </a:prstGeom>
          <a:solidFill>
            <a:srgbClr val="EA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108960"/>
            <a:ext cx="7315200" cy="246888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D9C"/>
                </a:solidFill>
                <a:latin typeface="Aptos"/>
              </a:rPr>
              <a:t>DEPLOYMENT GUARDRAILS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3474720"/>
            <a:ext cx="7543800" cy="539496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5394D"/>
                </a:solidFill>
                <a:latin typeface="Aptos"/>
              </a:rPr>
              <a:t>Retrospective proof of concept: prospectively validate alert value, technician workload, model drift and downtime outcomes before automated action or savings claims.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Just Logo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Just Logo">
  <a:themeElements>
    <a:clrScheme name="Simple Light">
      <a:dk1>
        <a:srgbClr val="222222"/>
      </a:dk1>
      <a:lt1>
        <a:srgbClr val="FFFFFF"/>
      </a:lt1>
      <a:dk2>
        <a:srgbClr val="222222"/>
      </a:dk2>
      <a:lt2>
        <a:srgbClr val="0E39A9"/>
      </a:lt2>
      <a:accent1>
        <a:srgbClr val="FFAB40"/>
      </a:accent1>
      <a:accent2>
        <a:srgbClr val="6F4294"/>
      </a:accent2>
      <a:accent3>
        <a:srgbClr val="FFA000"/>
      </a:accent3>
      <a:accent4>
        <a:srgbClr val="FFAB40"/>
      </a:accent4>
      <a:accent5>
        <a:srgbClr val="FFDF00"/>
      </a:accent5>
      <a:accent6>
        <a:srgbClr val="1974D5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